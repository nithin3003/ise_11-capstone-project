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91" r:id="rId4"/>
    <p:sldId id="277" r:id="rId5"/>
    <p:sldId id="282" r:id="rId6"/>
    <p:sldId id="283" r:id="rId7"/>
    <p:sldId id="286" r:id="rId8"/>
    <p:sldId id="298" r:id="rId9"/>
    <p:sldId id="285" r:id="rId10"/>
    <p:sldId id="297" r:id="rId11"/>
    <p:sldId id="288" r:id="rId12"/>
    <p:sldId id="289" r:id="rId13"/>
    <p:sldId id="290" r:id="rId14"/>
    <p:sldId id="275" r:id="rId15"/>
    <p:sldId id="292" r:id="rId16"/>
    <p:sldId id="293" r:id="rId17"/>
    <p:sldId id="302" r:id="rId18"/>
    <p:sldId id="301" r:id="rId19"/>
    <p:sldId id="294" r:id="rId20"/>
    <p:sldId id="295" r:id="rId21"/>
    <p:sldId id="299" r:id="rId22"/>
    <p:sldId id="272" r:id="rId23"/>
    <p:sldId id="300" r:id="rId24"/>
    <p:sldId id="265" r:id="rId25"/>
    <p:sldId id="303" r:id="rId26"/>
    <p:sldId id="304" r:id="rId27"/>
    <p:sldId id="268" r:id="rId28"/>
    <p:sldId id="266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F8CDAB-5470-42AF-9017-BDD4579379BC}" v="63" dt="2025-09-04T05:55:37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ranthan TC" userId="4334f2aa82679d82" providerId="LiveId" clId="{EE5CC294-8234-4165-9093-7BF97D02CB36}"/>
    <pc:docChg chg="undo redo custSel addSld modSld">
      <pc:chgData name="Chiranthan TC" userId="4334f2aa82679d82" providerId="LiveId" clId="{EE5CC294-8234-4165-9093-7BF97D02CB36}" dt="2025-09-04T05:57:34.885" v="682" actId="2711"/>
      <pc:docMkLst>
        <pc:docMk/>
      </pc:docMkLst>
      <pc:sldChg chg="addSp delSp modSp mod">
        <pc:chgData name="Chiranthan TC" userId="4334f2aa82679d82" providerId="LiveId" clId="{EE5CC294-8234-4165-9093-7BF97D02CB36}" dt="2025-09-04T05:22:00.601" v="162" actId="20577"/>
        <pc:sldMkLst>
          <pc:docMk/>
          <pc:sldMk cId="0" sldId="265"/>
        </pc:sldMkLst>
        <pc:spChg chg="mod">
          <ac:chgData name="Chiranthan TC" userId="4334f2aa82679d82" providerId="LiveId" clId="{EE5CC294-8234-4165-9093-7BF97D02CB36}" dt="2025-09-04T05:22:00.601" v="162" actId="20577"/>
          <ac:spMkLst>
            <pc:docMk/>
            <pc:sldMk cId="0" sldId="265"/>
            <ac:spMk id="3" creationId="{1D66C0D6-6CBE-0BC1-42DA-F486D65C740E}"/>
          </ac:spMkLst>
        </pc:spChg>
        <pc:graphicFrameChg chg="add del modGraphic">
          <ac:chgData name="Chiranthan TC" userId="4334f2aa82679d82" providerId="LiveId" clId="{EE5CC294-8234-4165-9093-7BF97D02CB36}" dt="2025-09-04T05:14:38.830" v="111" actId="27309"/>
          <ac:graphicFrameMkLst>
            <pc:docMk/>
            <pc:sldMk cId="0" sldId="265"/>
            <ac:graphicFrameMk id="4" creationId="{8964CC1B-7837-6F91-7A87-16F963245DB4}"/>
          </ac:graphicFrameMkLst>
        </pc:graphicFrameChg>
      </pc:sldChg>
      <pc:sldChg chg="modSp mod">
        <pc:chgData name="Chiranthan TC" userId="4334f2aa82679d82" providerId="LiveId" clId="{EE5CC294-8234-4165-9093-7BF97D02CB36}" dt="2025-09-04T05:30:37.407" v="168" actId="20577"/>
        <pc:sldMkLst>
          <pc:docMk/>
          <pc:sldMk cId="1405868227" sldId="298"/>
        </pc:sldMkLst>
        <pc:spChg chg="mod">
          <ac:chgData name="Chiranthan TC" userId="4334f2aa82679d82" providerId="LiveId" clId="{EE5CC294-8234-4165-9093-7BF97D02CB36}" dt="2025-09-04T05:30:37.407" v="168" actId="20577"/>
          <ac:spMkLst>
            <pc:docMk/>
            <pc:sldMk cId="1405868227" sldId="298"/>
            <ac:spMk id="5" creationId="{D4AD916D-A4EC-2A6E-CD3F-D4BBB825C487}"/>
          </ac:spMkLst>
        </pc:spChg>
      </pc:sldChg>
      <pc:sldChg chg="modSp new mod">
        <pc:chgData name="Chiranthan TC" userId="4334f2aa82679d82" providerId="LiveId" clId="{EE5CC294-8234-4165-9093-7BF97D02CB36}" dt="2025-09-04T05:57:34.885" v="682" actId="2711"/>
        <pc:sldMkLst>
          <pc:docMk/>
          <pc:sldMk cId="20288764" sldId="303"/>
        </pc:sldMkLst>
        <pc:spChg chg="mod">
          <ac:chgData name="Chiranthan TC" userId="4334f2aa82679d82" providerId="LiveId" clId="{EE5CC294-8234-4165-9093-7BF97D02CB36}" dt="2025-09-04T05:13:16.586" v="107"/>
          <ac:spMkLst>
            <pc:docMk/>
            <pc:sldMk cId="20288764" sldId="303"/>
            <ac:spMk id="2" creationId="{D8951CF9-CE6B-09C9-4B30-4FE77B49E572}"/>
          </ac:spMkLst>
        </pc:spChg>
        <pc:spChg chg="mod">
          <ac:chgData name="Chiranthan TC" userId="4334f2aa82679d82" providerId="LiveId" clId="{EE5CC294-8234-4165-9093-7BF97D02CB36}" dt="2025-09-04T05:57:34.885" v="682" actId="2711"/>
          <ac:spMkLst>
            <pc:docMk/>
            <pc:sldMk cId="20288764" sldId="303"/>
            <ac:spMk id="3" creationId="{068C7AFE-F917-599B-47E4-85261567B36E}"/>
          </ac:spMkLst>
        </pc:spChg>
      </pc:sldChg>
      <pc:sldChg chg="modSp new mod">
        <pc:chgData name="Chiranthan TC" userId="4334f2aa82679d82" providerId="LiveId" clId="{EE5CC294-8234-4165-9093-7BF97D02CB36}" dt="2025-09-04T05:57:09.132" v="680" actId="5793"/>
        <pc:sldMkLst>
          <pc:docMk/>
          <pc:sldMk cId="324311118" sldId="304"/>
        </pc:sldMkLst>
        <pc:spChg chg="mod">
          <ac:chgData name="Chiranthan TC" userId="4334f2aa82679d82" providerId="LiveId" clId="{EE5CC294-8234-4165-9093-7BF97D02CB36}" dt="2025-09-04T05:41:03.069" v="365"/>
          <ac:spMkLst>
            <pc:docMk/>
            <pc:sldMk cId="324311118" sldId="304"/>
            <ac:spMk id="2" creationId="{25400C08-1FCD-3376-C15D-3580113A3E82}"/>
          </ac:spMkLst>
        </pc:spChg>
        <pc:spChg chg="mod">
          <ac:chgData name="Chiranthan TC" userId="4334f2aa82679d82" providerId="LiveId" clId="{EE5CC294-8234-4165-9093-7BF97D02CB36}" dt="2025-09-04T05:57:09.132" v="680" actId="5793"/>
          <ac:spMkLst>
            <pc:docMk/>
            <pc:sldMk cId="324311118" sldId="304"/>
            <ac:spMk id="3" creationId="{BA255CE5-C6B9-C1F2-00DA-D65A3E1134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66F4BD6B-52E1-5B2C-9F6A-73CE9F90C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700AAEF-CC0C-8956-5272-4E20C35C1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7FD8CF63-68A4-3576-C783-AB823383B4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847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0246838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stamp/stamp.jsp?tp=&amp;arnumber=10813164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8924687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8938802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9669174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8840848" TargetMode="External"/><Relationship Id="rId2" Type="http://schemas.openxmlformats.org/officeDocument/2006/relationships/hyperlink" Target="https://ieeexplore.ieee.org/stamp/stamp.jsp?tp=&amp;arnumber=10813164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980731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6463486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1079888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0184013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24683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8924687" TargetMode="External"/><Relationship Id="rId4" Type="http://schemas.openxmlformats.org/officeDocument/2006/relationships/hyperlink" Target="https://ieeexplore.ieee.org/stamp/stamp.jsp?tp=&amp;arnumber=10813164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9669174" TargetMode="External"/><Relationship Id="rId2" Type="http://schemas.openxmlformats.org/officeDocument/2006/relationships/hyperlink" Target="https://ieeexplore.ieee.org/document/893880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document/8840848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6463486" TargetMode="External"/><Relationship Id="rId2" Type="http://schemas.openxmlformats.org/officeDocument/2006/relationships/hyperlink" Target="https://ieeexplore.ieee.org/document/980731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10184013" TargetMode="External"/><Relationship Id="rId4" Type="http://schemas.openxmlformats.org/officeDocument/2006/relationships/hyperlink" Target="https://ieeexplore.ieee.org/document/11079888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41308" y="683641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/>
              <a:t>Student Innovation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6" y="2045352"/>
            <a:ext cx="462825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ISE_11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385623" y="241872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400"/>
              </a:spcBef>
              <a:buClr>
                <a:srgbClr val="17365D"/>
              </a:buClr>
              <a:buSzPts val="2000"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800" b="1" dirty="0"/>
              <a:t>Mr. John Bennet J</a:t>
            </a: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4124584367"/>
              </p:ext>
            </p:extLst>
          </p:nvPr>
        </p:nvGraphicFramePr>
        <p:xfrm>
          <a:off x="208546" y="2597653"/>
          <a:ext cx="7042485" cy="4154263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18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5413"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/>
                        <a:t>20221ISE0066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/>
                        <a:t>20221ISE0032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/>
                        <a:t>20221ISE0062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</a:rPr>
                        <a:t>Nithin M 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</a:rPr>
                        <a:t>Aditya V 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</a:rPr>
                        <a:t>Chiranthan T C Nadig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4660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208546" y="4812022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IN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Information</a:t>
            </a:r>
            <a:r>
              <a:rPr lang="en-IN" alt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Science and Engineering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Zafar Ali Khan N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 .Suma N G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 , Dr. Geetha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Arjunan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51264B-EC28-8A51-838F-A41AD50ADF1C}"/>
              </a:ext>
            </a:extLst>
          </p:cNvPr>
          <p:cNvSpPr txBox="1"/>
          <p:nvPr/>
        </p:nvSpPr>
        <p:spPr>
          <a:xfrm>
            <a:off x="2576052" y="1337266"/>
            <a:ext cx="72555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	Smart Education, a concept that describes learning in digital age. 	</a:t>
            </a:r>
          </a:p>
          <a:p>
            <a:pPr algn="ctr"/>
            <a:r>
              <a:rPr lang="en-US" b="1" dirty="0"/>
              <a:t>	It enables learner to learn more effectively ,efficiently ,flexibly and comfortably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6563" y="1102592"/>
            <a:ext cx="10668000" cy="509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 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Block Diagram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Hardware/Software Requirements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Timeline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A0B06-059B-6285-13FF-61C7F5C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BC4D1A-D2D3-9B0F-4D67-0A8DCB40A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9753" y="1144223"/>
            <a:ext cx="1201006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proposed study searching provides a single platform to access videos, code repositories, research papers, and datasets.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It aims to simplify access to educational resources by combining multiple trusted sources.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Previous research focused on semantic methods, recommendation systems, and adaptive learning.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However, most existing approaches were domain-specific, lacked scalability, and did not support cross-platform integration.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Our project bridges these gaps by delivering a unified, learner-centric, and multi-source search experience.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516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  <a:endParaRPr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F63B25-929E-6330-E1DD-8565E6101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453963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786884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178407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NLP + RDF triples boost semantic retrieval efficiency.</a:t>
                      </a:r>
                    </a:p>
                    <a:p>
                      <a:pPr lvl="3" algn="l"/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  <a:p>
                      <a:pPr lvl="3" algn="l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RDF links heterogeneous data effectively.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 Rounded MT Bold" panose="020F0704030504030204" pitchFamily="34" charset="0"/>
                        </a:rPr>
                        <a:t> NLP entity extraction.</a:t>
                      </a:r>
                    </a:p>
                    <a:p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  <a:p>
                      <a:r>
                        <a:rPr lang="en-IN" sz="1600" dirty="0">
                          <a:latin typeface="Arial Rounded MT Bold" panose="020F0704030504030204" pitchFamily="34" charset="0"/>
                        </a:rPr>
                        <a:t>RDF triple storage &amp; SPARQL queries.</a:t>
                      </a:r>
                    </a:p>
                    <a:p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Semantic IR pipeline: NLP → RDF → retrieval.</a:t>
                      </a:r>
                    </a:p>
                    <a:p>
                      <a:r>
                        <a:rPr lang="en-IN" sz="1600" dirty="0"/>
                        <a:t> </a:t>
                      </a:r>
                    </a:p>
                    <a:p>
                      <a:r>
                        <a:rPr lang="en-IN" sz="1600" dirty="0"/>
                        <a:t>RDF knowledge graph structure.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Focused on engineering domain.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r>
                        <a:rPr lang="en-US" sz="1600" dirty="0"/>
                        <a:t>Lacks personalization and categorization.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RDF-like ideas to structure multi-API metadata.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Apply to multi-source educational search.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96D990-F91B-9548-EE2D-622E5D2ECB0E}"/>
              </a:ext>
            </a:extLst>
          </p:cNvPr>
          <p:cNvSpPr txBox="1"/>
          <p:nvPr/>
        </p:nvSpPr>
        <p:spPr>
          <a:xfrm>
            <a:off x="265470" y="1291454"/>
            <a:ext cx="67350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 Black" panose="020B0A04020102020204" pitchFamily="34" charset="0"/>
              </a:rPr>
              <a:t>Efficient Retrieval Using Semantic Search with NLP and RDF</a:t>
            </a:r>
          </a:p>
          <a:p>
            <a:r>
              <a:rPr lang="en-IN" sz="2000" b="1" dirty="0">
                <a:latin typeface="Arial Black" panose="020B0A04020102020204" pitchFamily="34" charset="0"/>
              </a:rPr>
              <a:t>Link: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https://ieeexplore.ieee.org/document/10246838</a:t>
            </a:r>
            <a:endParaRPr lang="en-IN" sz="20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EF63-CE0D-69F5-EEB5-11606905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39EE67-3EC1-7A2A-70D6-E86E4D0E729A}"/>
              </a:ext>
            </a:extLst>
          </p:cNvPr>
          <p:cNvSpPr txBox="1"/>
          <p:nvPr/>
        </p:nvSpPr>
        <p:spPr>
          <a:xfrm>
            <a:off x="433136" y="1314874"/>
            <a:ext cx="115130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From Code to Ratings: Converting Programming Data to Enhance Collaborative Filtering in Educational Online Judge Systems</a:t>
            </a:r>
          </a:p>
          <a:p>
            <a:r>
              <a:rPr lang="en-US" sz="1600" dirty="0">
                <a:latin typeface="Arial Black" panose="020B0A04020102020204" pitchFamily="34" charset="0"/>
              </a:rPr>
              <a:t>Link: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 https://ieeexplore.ieee.org/document/10813164 </a:t>
            </a:r>
            <a:endParaRPr lang="en-IN" sz="1600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1D7CC0-A9F7-D55F-AB57-54D448A12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560093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843213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013364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891243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Code logs converted to ratings for collaborative filtering.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Improves recommendation accuracy.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Log analysis &amp; rating conversion.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Neural Collaborative Filtering (NCF)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Conversion pipeline: logs → ratings → NCF.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Implicit feedback-based recommender.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Domain-limited to coding platforms.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Doesn’t generalize to multi-source data.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multi-source APIs (YouTube, GitHub, Kaggle, </a:t>
                      </a:r>
                      <a:r>
                        <a:rPr lang="en-US" sz="1600" dirty="0" err="1"/>
                        <a:t>arXiv</a:t>
                      </a:r>
                      <a:r>
                        <a:rPr lang="en-US" sz="1600" dirty="0"/>
                        <a:t>) to gather programming and educational content.</a:t>
                      </a:r>
                    </a:p>
                    <a:p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 Apply collaborative filtering combined with semantic ranking and user feedback for personalization.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108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525CF-90FF-A0C7-5A4B-10EF8239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7CF8C-EB74-22EF-1939-78E7F501DD99}"/>
              </a:ext>
            </a:extLst>
          </p:cNvPr>
          <p:cNvSpPr txBox="1"/>
          <p:nvPr/>
        </p:nvSpPr>
        <p:spPr>
          <a:xfrm>
            <a:off x="304800" y="1261230"/>
            <a:ext cx="113257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Using Research Literature to Generate Datasets of Implicit Feedback for Recommending Scientific Items</a:t>
            </a:r>
          </a:p>
          <a:p>
            <a:r>
              <a:rPr lang="en-US" sz="1600" dirty="0" err="1">
                <a:latin typeface="Arial Black" panose="020B0A04020102020204" pitchFamily="34" charset="0"/>
              </a:rPr>
              <a:t>Link:</a:t>
            </a:r>
            <a:r>
              <a:rPr lang="en-US" sz="1600" dirty="0" err="1">
                <a:latin typeface="Arial Black" panose="020B0A04020102020204" pitchFamily="34" charset="0"/>
                <a:hlinkClick r:id="rId2"/>
              </a:rPr>
              <a:t>https</a:t>
            </a:r>
            <a:r>
              <a:rPr lang="en-US" sz="1600" dirty="0">
                <a:latin typeface="Arial Black" panose="020B0A04020102020204" pitchFamily="34" charset="0"/>
                <a:hlinkClick r:id="rId2"/>
              </a:rPr>
              <a:t>://ieeexplore.ieee.org/document/8924687</a:t>
            </a:r>
            <a:endParaRPr lang="en-IN" sz="1600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96C74F-D0DD-113E-2660-BF6B7BB29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934421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071813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893478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Implicit feedback (authorship, citations) forms datasets.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 Useful when explicit ratings are missing.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Literature mining &amp; entity mapping.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Utility matrix generation from implicit signals.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 Rounded MT Bold" panose="020F0704030504030204" pitchFamily="34" charset="0"/>
                        </a:rPr>
                        <a:t> </a:t>
                      </a:r>
                      <a:r>
                        <a:rPr lang="en-IN" sz="1600" dirty="0"/>
                        <a:t>LIBRETTI workflow: entity → mapping → dataset.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Implicit rating-based recommender.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 to scientific literature.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No coverage for code, videos, or datasets.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Use multi-source APIs (YouTube, GitHub, Kaggle, </a:t>
                      </a:r>
                      <a:r>
                        <a:rPr lang="en-US" sz="1600" dirty="0" err="1"/>
                        <a:t>arXiv</a:t>
                      </a:r>
                      <a:r>
                        <a:rPr lang="en-US" sz="1600" dirty="0"/>
                        <a:t>) to collect interactions</a:t>
                      </a:r>
                    </a:p>
                    <a:p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 Generate implicit feedback-based recommendations across videos, datasets, and code, integrating them into the search engine.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560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14F4-B574-8859-9A7A-4F8CBADF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4D86D-44DE-328A-F308-DAB50B395C55}"/>
              </a:ext>
            </a:extLst>
          </p:cNvPr>
          <p:cNvSpPr txBox="1"/>
          <p:nvPr/>
        </p:nvSpPr>
        <p:spPr>
          <a:xfrm>
            <a:off x="377248" y="917853"/>
            <a:ext cx="115930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Arial Black" panose="020B0A04020102020204" pitchFamily="34" charset="0"/>
              </a:rPr>
              <a:t> </a:t>
            </a:r>
            <a:r>
              <a:rPr lang="en-US" sz="1600" b="1" dirty="0">
                <a:latin typeface="Arial Black" panose="020B0A04020102020204" pitchFamily="34" charset="0"/>
              </a:rPr>
              <a:t>An Intelligent Video Tag Recommendation Method for Improving Video Popularity in Mobile Computing Environment</a:t>
            </a:r>
          </a:p>
          <a:p>
            <a:r>
              <a:rPr lang="en-IN" sz="1600" b="1" dirty="0" err="1">
                <a:latin typeface="Arial Black" panose="020B0A04020102020204" pitchFamily="34" charset="0"/>
              </a:rPr>
              <a:t>Link:</a:t>
            </a:r>
            <a:r>
              <a:rPr lang="en-IN" sz="1600" b="1" dirty="0" err="1">
                <a:latin typeface="Arial Black" panose="020B0A04020102020204" pitchFamily="34" charset="0"/>
                <a:hlinkClick r:id="rId2"/>
              </a:rPr>
              <a:t>https</a:t>
            </a:r>
            <a:r>
              <a:rPr lang="en-IN" sz="1600" b="1" dirty="0">
                <a:latin typeface="Arial Black" panose="020B0A04020102020204" pitchFamily="34" charset="0"/>
                <a:hlinkClick r:id="rId2"/>
              </a:rPr>
              <a:t>://ieeexplore.ieee.org/document/8938802</a:t>
            </a:r>
            <a:endParaRPr lang="en-IN" sz="1600" b="1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F05B79-8033-3F6E-CA0E-A3E8D7597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979995"/>
              </p:ext>
            </p:extLst>
          </p:nvPr>
        </p:nvGraphicFramePr>
        <p:xfrm>
          <a:off x="377248" y="1904565"/>
          <a:ext cx="11379201" cy="3839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668195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239938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524985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670243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85060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989278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Intelligent tagging improves video discoverability and engagement.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Helps recommend relevant content to users in mobile environments.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Analyze video content and metadata to generate tags.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Use machine learning for tag prediction and relevance scoring.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 Video tag recommendation pipeline: Video → Feature extraction → Tag prediction → Recommendation.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Popularity-aware ranking for recommended videos.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Focused only on video platforms.</a:t>
                      </a:r>
                    </a:p>
                    <a:p>
                      <a:pPr marL="0" indent="0">
                        <a:buNone/>
                      </a:pP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Not integrated with multi-source educational resources.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multi-source APIs (YouTube, GitHub, Kaggle, </a:t>
                      </a:r>
                      <a:r>
                        <a:rPr lang="en-US" sz="1600" dirty="0" err="1"/>
                        <a:t>arXiv</a:t>
                      </a:r>
                      <a:r>
                        <a:rPr lang="en-US" sz="1600" dirty="0"/>
                        <a:t>) to fetch educational videos.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Apply ML-based tagging and semantic ranking to improve discoverability and relevance in the search engine.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505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48DF-C712-0AA9-F8AE-F4392219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DE1A61-DCBD-541C-9485-D6DCDBE47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143206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marL="0" lvl="3" indent="0" algn="l">
                        <a:buNone/>
                      </a:pPr>
                      <a:r>
                        <a:rPr lang="en-US" sz="1600" dirty="0"/>
                        <a:t>Adaptive OERs personalize content using student preferences &amp; accessibility. </a:t>
                      </a:r>
                    </a:p>
                    <a:p>
                      <a:pPr marL="0" lvl="3" indent="0" algn="l">
                        <a:buNone/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AI-driven adaptation improves inclusivity.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User profiling &amp; preference-based adaptation.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AI/ML-driven multilevel content delivery.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600" dirty="0"/>
                        <a:t>Profile → Matching → Resource delivery pipeline.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Multilevel adaptation framework.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Limited to OER only.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Small-scale evaluation; lacks cross-platform integration.</a:t>
                      </a:r>
                    </a:p>
                    <a:p>
                      <a:pPr marL="0" indent="0">
                        <a:buNone/>
                      </a:pP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Extend personalization to multi-source educational search.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Include videos, datasets, code, and papers.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AD916D-A4EC-2A6E-CD3F-D4BBB825C487}"/>
              </a:ext>
            </a:extLst>
          </p:cNvPr>
          <p:cNvSpPr txBox="1"/>
          <p:nvPr/>
        </p:nvSpPr>
        <p:spPr>
          <a:xfrm>
            <a:off x="167148" y="1018644"/>
            <a:ext cx="114540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Automatic Adaptation of Open Educational Resources: An Approach From a Multilevel Methodology Based on Students’ Preferences, Educational Special Needs, Artificial Intelligence and Accessibility Metadata</a:t>
            </a:r>
          </a:p>
          <a:p>
            <a:r>
              <a:rPr lang="en-US" sz="1600" b="1" dirty="0" err="1">
                <a:latin typeface="Arial Black" panose="020B0A04020102020204" pitchFamily="34" charset="0"/>
              </a:rPr>
              <a:t>Link:</a:t>
            </a:r>
            <a:r>
              <a:rPr lang="en-US" sz="1600" b="1" dirty="0" err="1">
                <a:latin typeface="Arial Black" panose="020B0A04020102020204" pitchFamily="34" charset="0"/>
                <a:hlinkClick r:id="rId2"/>
              </a:rPr>
              <a:t>https</a:t>
            </a:r>
            <a:r>
              <a:rPr lang="en-US" sz="1600" b="1" dirty="0">
                <a:latin typeface="Arial Black" panose="020B0A04020102020204" pitchFamily="34" charset="0"/>
                <a:hlinkClick r:id="rId2"/>
              </a:rPr>
              <a:t>://ieeexplore.ieee.org/document/9669174</a:t>
            </a:r>
            <a:endParaRPr lang="en-IN" sz="1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68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E743-014F-C2D7-3F40-B05B4C95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8B012-641E-FAF5-8EBE-50C6EE5519C1}"/>
              </a:ext>
            </a:extLst>
          </p:cNvPr>
          <p:cNvSpPr txBox="1"/>
          <p:nvPr/>
        </p:nvSpPr>
        <p:spPr>
          <a:xfrm>
            <a:off x="336884" y="1261230"/>
            <a:ext cx="115663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 Black" panose="020B0A04020102020204" pitchFamily="34" charset="0"/>
              </a:rPr>
              <a:t>Enhanced Search Engine Using Proposed Framework and Ranking Algorithm Based on Semantic Relations </a:t>
            </a:r>
          </a:p>
          <a:p>
            <a:r>
              <a:rPr lang="en-US" sz="1600" b="1" dirty="0">
                <a:latin typeface="Arial Black" panose="020B0A04020102020204" pitchFamily="34" charset="0"/>
              </a:rPr>
              <a:t>Link: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https://ieeexplore.ieee.org/document/8840848 </a:t>
            </a:r>
            <a:endParaRPr lang="en-IN" sz="1600" b="1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87FCC5-522B-8718-1A16-826BA8AD1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148311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04064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92465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Semantic relations improve ranking, precision &amp; recall.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Outperforms keyword-based search engines.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Semantic query expansion using ontologies.</a:t>
                      </a:r>
                    </a:p>
                    <a:p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Custom semantic ranking algorithms.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Expansion + relation extraction → re-ranking.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Semantic ranking framework.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Evaluated on small datasets only.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Doesn’t categorize by resource type.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Apply semantic ranking to multi-source API integration.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r>
                        <a:rPr lang="en-US" sz="1600" dirty="0"/>
                        <a:t>Categorize results by videos, code, datasets, and papers.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704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01E3-BFCD-8327-9FFC-EC72C475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40FB7A-0049-B6A1-C095-3441E24FB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195284"/>
              </p:ext>
            </p:extLst>
          </p:nvPr>
        </p:nvGraphicFramePr>
        <p:xfrm>
          <a:off x="167148" y="2352368"/>
          <a:ext cx="11857704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Semantic ranking improves relevance of educational web searches.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Better matches learner intent compared to traditional keyword search.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Ontology mapping for concept understanding.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Semantic similarity scoring and re-ranking of search results.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Semantic re-ranking model for educational content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600" dirty="0"/>
                        <a:t>Education-specific semantic ontology to guide ranking.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Works mainly for educational websites.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Lacks support for multi-source content like videos, datasets, or code.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Generalize semantic ranking to multiple educational sources.</a:t>
                      </a:r>
                    </a:p>
                    <a:p>
                      <a:pPr marL="0" indent="0">
                        <a:buNone/>
                      </a:pP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 Implement API-driven integration for videos, code, datasets, and papers.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BF2951-B1BF-553B-F2DC-3B4B73F307A7}"/>
              </a:ext>
            </a:extLst>
          </p:cNvPr>
          <p:cNvSpPr txBox="1"/>
          <p:nvPr/>
        </p:nvSpPr>
        <p:spPr>
          <a:xfrm>
            <a:off x="167147" y="1054752"/>
            <a:ext cx="115435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A Semantic Approach to Ranking Techniques: Improving Web Page Searches for Educational Purposes</a:t>
            </a:r>
          </a:p>
          <a:p>
            <a:r>
              <a:rPr lang="en-US" sz="1600" b="1" dirty="0" err="1">
                <a:latin typeface="Arial Black" panose="020B0A04020102020204" pitchFamily="34" charset="0"/>
              </a:rPr>
              <a:t>Link: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://ieeexplore.ieee.org/document/9807311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282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4FBD-4953-6401-CD91-7A59BC01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9A50F-93E0-F873-B527-2CF19FF96981}"/>
              </a:ext>
            </a:extLst>
          </p:cNvPr>
          <p:cNvSpPr txBox="1"/>
          <p:nvPr/>
        </p:nvSpPr>
        <p:spPr>
          <a:xfrm>
            <a:off x="167146" y="1054752"/>
            <a:ext cx="113136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 Black" panose="020B0A04020102020204" pitchFamily="34" charset="0"/>
              </a:rPr>
              <a:t>How to Use Search Engine Optimization Techniques to Increase Website Visibility</a:t>
            </a:r>
          </a:p>
          <a:p>
            <a:r>
              <a:rPr lang="en-US" sz="1600" b="1" dirty="0" err="1">
                <a:latin typeface="Arial Black" panose="020B0A04020102020204" pitchFamily="34" charset="0"/>
              </a:rPr>
              <a:t>Link: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://ieeexplore.ieee.org/document/6463486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9AA7B0-8C1A-4199-D148-A336AB539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225034"/>
              </p:ext>
            </p:extLst>
          </p:nvPr>
        </p:nvGraphicFramePr>
        <p:xfrm>
          <a:off x="167146" y="1639527"/>
          <a:ext cx="12024853" cy="4312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497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2484322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038732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275077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821752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94894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3363153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SEO improves website visibility on search engines.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 Increases organic traffic and engagement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On-page optimization: keywords, meta tags, internal links.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Off-page optimization: backlinks, social promotion; Technical SEO &amp; content strategy.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SEO workflow: Keyword research → On-page + Off-page → Technical setup → Content publishing → Monitoring.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Iterative optimization loop based on analytics feedback.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 to organic search; no multi-platform coverage.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Effectiveness varies with competition and algorithm changes.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multi-source APIs (YouTube, GitHub, Kaggle, </a:t>
                      </a:r>
                      <a:r>
                        <a:rPr lang="en-US" sz="1600" dirty="0" err="1"/>
                        <a:t>arXiv</a:t>
                      </a:r>
                      <a:r>
                        <a:rPr lang="en-US" sz="1600" dirty="0"/>
                        <a:t>) to fetch educational content.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Apply semantic ranking, categorization, and feedback-based personalization.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473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6D11-417D-B1EE-945E-2269EB0F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438CA-D2EB-D5FB-C250-04ABBC53E228}"/>
              </a:ext>
            </a:extLst>
          </p:cNvPr>
          <p:cNvSpPr txBox="1"/>
          <p:nvPr/>
        </p:nvSpPr>
        <p:spPr>
          <a:xfrm>
            <a:off x="309458" y="996832"/>
            <a:ext cx="101018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GENAUM: NEW SEMANTIC DISTRIBUTED SEARCH ENGINE</a:t>
            </a:r>
          </a:p>
          <a:p>
            <a:r>
              <a:rPr lang="en-US" sz="2000" b="1" dirty="0" err="1"/>
              <a:t>Link:</a:t>
            </a:r>
            <a:r>
              <a:rPr lang="en-US" sz="2000" b="1" dirty="0" err="1">
                <a:hlinkClick r:id="rId2"/>
              </a:rPr>
              <a:t>https</a:t>
            </a:r>
            <a:r>
              <a:rPr lang="en-US" sz="2000" b="1" dirty="0">
                <a:hlinkClick r:id="rId2"/>
              </a:rPr>
              <a:t>://ieeexplore.ieee.org/document/11079888 </a:t>
            </a:r>
            <a:endParaRPr lang="en-IN" sz="20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396C39-09B8-FC27-F097-A66C289B9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932810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Distributed semantic search improves scalability.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Agent-based systems provide faster responses.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Multi-agent search architecture.</a:t>
                      </a:r>
                    </a:p>
                    <a:p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Ontology-driven semantic indexing.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Agent-based distributed engine.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r>
                        <a:rPr lang="en-US" sz="1600" dirty="0"/>
                        <a:t> Decentralized semantic search nodes.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Prototype-level; small-scale testing.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Not applied to education or multi-source APIs.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Extend distributed architecture for multi-source APIs.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Improve response time and scalability.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184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31678-7FD2-63BC-6DEC-A49617EF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1B8D2-B524-CE92-3450-F891450E1C66}"/>
              </a:ext>
            </a:extLst>
          </p:cNvPr>
          <p:cNvSpPr txBox="1"/>
          <p:nvPr/>
        </p:nvSpPr>
        <p:spPr>
          <a:xfrm>
            <a:off x="336884" y="1200314"/>
            <a:ext cx="109407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 Black" panose="020B0A04020102020204" pitchFamily="34" charset="0"/>
              </a:rPr>
              <a:t>Information Retrieval: Recent Advances and Beyond</a:t>
            </a:r>
          </a:p>
          <a:p>
            <a:r>
              <a:rPr lang="en-IN" sz="2400" b="1" dirty="0" err="1">
                <a:latin typeface="Arial Black" panose="020B0A04020102020204" pitchFamily="34" charset="0"/>
              </a:rPr>
              <a:t>Link:</a:t>
            </a:r>
            <a:r>
              <a:rPr lang="en-IN" sz="2400" b="1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://ieeexplore.ieee.org/document/10184013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BD1CEB-C321-DC21-F077-CEB79E268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403260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Two-stage retrieval (fetch + re-ranking) widely used.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Neural ranking improves precision &amp; recall.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Lexical search methods (BM25, TF-IDF).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Semantic/neural re-ranking.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Two-stage IR pipeline. 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dirty="0"/>
                        <a:t>Combination of lexical + neural methods.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Broad survey; no focus on education.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r>
                        <a:rPr lang="en-US" sz="1600" dirty="0"/>
                        <a:t>Doesn’t handle multi-source or API integration.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Adopt modular fetch + semantic re-ranking.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Apply to educational multi-source API search.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518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Objectives: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B64941B-BE90-AEDF-E45A-0AD34E733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30340"/>
            <a:ext cx="1128546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unified searching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educational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multiple platforms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YouTube, GitHub, and academic repositories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search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understands the intent behind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categorized results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videos, research papers, datasets, and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students and researchers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relevant resources efficiently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2E0B-470C-508E-6BA3-21D71349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Methods and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2F00E-2E7D-9987-5D79-F993C0BC5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2600" b="1" dirty="0"/>
              <a:t>Existing Methods:</a:t>
            </a:r>
            <a:endParaRPr lang="en-US" sz="2600" dirty="0"/>
          </a:p>
          <a:p>
            <a:r>
              <a:rPr lang="en-US" dirty="0"/>
              <a:t>Traditional search engines rely mostly on </a:t>
            </a:r>
            <a:r>
              <a:rPr lang="en-US" b="1" dirty="0"/>
              <a:t>keywords</a:t>
            </a:r>
            <a:r>
              <a:rPr lang="en-US" dirty="0"/>
              <a:t>.</a:t>
            </a:r>
          </a:p>
          <a:p>
            <a:r>
              <a:rPr lang="en-US" dirty="0"/>
              <a:t>Many platforms provide search for </a:t>
            </a:r>
            <a:r>
              <a:rPr lang="en-US" b="1" dirty="0"/>
              <a:t>single sources only</a:t>
            </a:r>
            <a:r>
              <a:rPr lang="en-US" dirty="0"/>
              <a:t> (e.g., only papers or only videos).</a:t>
            </a:r>
          </a:p>
          <a:p>
            <a:r>
              <a:rPr lang="en-US" dirty="0"/>
              <a:t>Some educational tools adapt content but </a:t>
            </a:r>
            <a:r>
              <a:rPr lang="en-US" b="1" dirty="0"/>
              <a:t>lack comprehensive search</a:t>
            </a:r>
            <a:r>
              <a:rPr lang="en-US" dirty="0"/>
              <a:t> capabilities.</a:t>
            </a:r>
          </a:p>
          <a:p>
            <a:r>
              <a:rPr lang="en-US" sz="2600" b="1" dirty="0"/>
              <a:t>Drawbacks:</a:t>
            </a:r>
            <a:endParaRPr lang="en-US" sz="2600" dirty="0"/>
          </a:p>
          <a:p>
            <a:r>
              <a:rPr lang="en-US" b="1" dirty="0"/>
              <a:t>Fragmented results</a:t>
            </a:r>
            <a:r>
              <a:rPr lang="en-US" dirty="0"/>
              <a:t> across different platforms.</a:t>
            </a:r>
          </a:p>
          <a:p>
            <a:r>
              <a:rPr lang="en-US" b="1" dirty="0"/>
              <a:t>Context and intent of queries often ignored</a:t>
            </a:r>
            <a:r>
              <a:rPr lang="en-US" dirty="0"/>
              <a:t> in keyword-based searches.</a:t>
            </a:r>
          </a:p>
          <a:p>
            <a:r>
              <a:rPr lang="en-US" b="1" dirty="0"/>
              <a:t>No categorization</a:t>
            </a:r>
            <a:r>
              <a:rPr lang="en-US" dirty="0"/>
              <a:t> of resources (videos, code, datasets, papers).</a:t>
            </a:r>
          </a:p>
          <a:p>
            <a:r>
              <a:rPr lang="en-US" b="1" dirty="0"/>
              <a:t>Time-consuming</a:t>
            </a:r>
            <a:r>
              <a:rPr lang="en-US" dirty="0"/>
              <a:t> for users to gather and filter relevant materials.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8896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227CA-E9C6-0E0D-CECC-B1DD42CF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84950-675E-7952-75E1-FEF4240A5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Ranked, categorized results across platforms </a:t>
            </a:r>
            <a:r>
              <a:rPr lang="en-IN" dirty="0"/>
              <a:t>– Normalize metadata from GitHub, YouTube, </a:t>
            </a:r>
            <a:r>
              <a:rPr lang="en-IN" dirty="0" err="1"/>
              <a:t>arXiv</a:t>
            </a:r>
            <a:r>
              <a:rPr lang="en-IN" dirty="0"/>
              <a:t>, and Kaggle into a common structure.</a:t>
            </a:r>
          </a:p>
          <a:p>
            <a:r>
              <a:rPr lang="en-IN" b="1" dirty="0"/>
              <a:t>Semantic Embeddings</a:t>
            </a:r>
            <a:r>
              <a:rPr lang="en-IN" dirty="0"/>
              <a:t> – Use ML models (BERT, </a:t>
            </a:r>
            <a:r>
              <a:rPr lang="en-IN" dirty="0" err="1"/>
              <a:t>CodeBERT</a:t>
            </a:r>
            <a:r>
              <a:rPr lang="en-IN" dirty="0"/>
              <a:t>, etc.) to represent queries and resources in a shared vector space.</a:t>
            </a:r>
          </a:p>
          <a:p>
            <a:r>
              <a:rPr lang="en-IN" b="1" dirty="0"/>
              <a:t>Similarity Calculation</a:t>
            </a:r>
            <a:r>
              <a:rPr lang="en-IN" dirty="0"/>
              <a:t>– Compare code, papers, videos, and datasets through embedding alignment Cosine Similarity.</a:t>
            </a:r>
          </a:p>
          <a:p>
            <a:r>
              <a:rPr lang="en-IN" b="1" dirty="0"/>
              <a:t>Categorized Results</a:t>
            </a:r>
            <a:r>
              <a:rPr lang="en-IN" dirty="0"/>
              <a:t> – Return organized outputs (code, videos, datasets, papers).</a:t>
            </a:r>
          </a:p>
          <a:p>
            <a:r>
              <a:rPr lang="en-IN" b="1" dirty="0"/>
              <a:t>Single Interface</a:t>
            </a:r>
            <a:r>
              <a:rPr lang="en-IN" dirty="0"/>
              <a:t> – Provide an easy-to-use platform for searching across all educational resources.</a:t>
            </a:r>
          </a:p>
        </p:txBody>
      </p:sp>
    </p:spTree>
    <p:extLst>
      <p:ext uri="{BB962C8B-B14F-4D97-AF65-F5344CB8AC3E}">
        <p14:creationId xmlns:p14="http://schemas.microsoft.com/office/powerpoint/2010/main" val="2504224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5634-A522-BFB8-4DB0-AB258435E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Overcomes Existing Drawbacks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EDB6F-A838-3912-8BCC-0535462DD5CF}"/>
              </a:ext>
            </a:extLst>
          </p:cNvPr>
          <p:cNvSpPr txBox="1"/>
          <p:nvPr/>
        </p:nvSpPr>
        <p:spPr>
          <a:xfrm>
            <a:off x="707923" y="1273955"/>
            <a:ext cx="838691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400" b="1" dirty="0"/>
              <a:t>Unified Search</a:t>
            </a:r>
            <a:r>
              <a:rPr lang="en-US" sz="2400" dirty="0"/>
              <a:t> – Integrates multiple platforms into one place.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Context-Aware</a:t>
            </a:r>
            <a:r>
              <a:rPr lang="en-US" sz="2400" dirty="0"/>
              <a:t> – Captures meaning of queries, not just keywords.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Organized Results</a:t>
            </a:r>
            <a:r>
              <a:rPr lang="en-US" sz="2400" dirty="0"/>
              <a:t> – Automatically categorizes by resource type.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Time-Saving</a:t>
            </a:r>
            <a:r>
              <a:rPr lang="en-US" sz="2400" dirty="0"/>
              <a:t> – Reduces effort in filtering and browsing across sources.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Comprehensive Access</a:t>
            </a:r>
            <a:r>
              <a:rPr lang="en-US" sz="2400" dirty="0"/>
              <a:t> – Ensures students/researchers get code, data, papers, and videos in one search.</a:t>
            </a:r>
          </a:p>
        </p:txBody>
      </p:sp>
    </p:spTree>
    <p:extLst>
      <p:ext uri="{BB962C8B-B14F-4D97-AF65-F5344CB8AC3E}">
        <p14:creationId xmlns:p14="http://schemas.microsoft.com/office/powerpoint/2010/main" val="2954636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2215B-939E-4AE1-BBF9-330311AF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12364-F550-030D-2F32-CC1C55E31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Feasibility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99F99-DEFF-60F8-B187-9EC5F7831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Technical Feasibility: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Built with HTML, CSS, JS.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Uses public APIs (YouTube, GitHub,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arXiv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Kaggle)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Browser-compatible, scalable</a:t>
            </a:r>
          </a:p>
          <a:p>
            <a:endParaRPr lang="en-IN" dirty="0"/>
          </a:p>
          <a:p>
            <a:r>
              <a:rPr lang="en-US" sz="2200" b="1" dirty="0"/>
              <a:t>Economic Feasibility:</a:t>
            </a:r>
          </a:p>
          <a:p>
            <a:pPr lvl="1"/>
            <a:r>
              <a:rPr lang="en-US" sz="1800" dirty="0"/>
              <a:t>Minimal development </a:t>
            </a:r>
          </a:p>
          <a:p>
            <a:pPr lvl="1"/>
            <a:r>
              <a:rPr lang="en-US" sz="1800" dirty="0"/>
              <a:t>APIs (with limits) (Netlify, GitHub Pages, Heroku)</a:t>
            </a:r>
          </a:p>
          <a:p>
            <a:pPr marL="76200" indent="0">
              <a:buNone/>
            </a:pPr>
            <a:endParaRPr lang="en-US" dirty="0"/>
          </a:p>
          <a:p>
            <a:r>
              <a:rPr lang="en-US" b="1" dirty="0"/>
              <a:t>Operational Feasibility:</a:t>
            </a:r>
          </a:p>
          <a:p>
            <a:pPr lvl="1"/>
            <a:r>
              <a:rPr lang="en-US" dirty="0"/>
              <a:t>Runs on standard PCs</a:t>
            </a:r>
          </a:p>
          <a:p>
            <a:pPr lvl="1"/>
            <a:r>
              <a:rPr lang="en-US" dirty="0"/>
              <a:t>Requires only VS Code + browser</a:t>
            </a:r>
          </a:p>
          <a:p>
            <a:pPr lvl="1"/>
            <a:r>
              <a:rPr lang="en-US" dirty="0"/>
              <a:t>Small team (2–3 </a:t>
            </a:r>
            <a:r>
              <a:rPr lang="en-US" dirty="0" err="1"/>
              <a:t>devs</a:t>
            </a:r>
            <a:r>
              <a:rPr lang="en-US" dirty="0"/>
              <a:t>) sufficient</a:t>
            </a:r>
          </a:p>
          <a:p>
            <a:pPr lvl="1"/>
            <a:r>
              <a:rPr lang="en-US" dirty="0"/>
              <a:t>Easy to learn &amp; maintain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1156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240B-831A-7BFD-2014-D3D9A7AC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050D9-86DE-91C7-F947-E76B14993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BFD1A-0D30-D6B9-F769-C83BB15EB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143001"/>
            <a:ext cx="10668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089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02AD0-C587-4E51-C3F0-BD99BAA3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871A-5D3A-A8FA-749D-AD560EDCB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User Interface Module</a:t>
            </a:r>
          </a:p>
          <a:p>
            <a:endParaRPr lang="en-IN" dirty="0"/>
          </a:p>
          <a:p>
            <a:r>
              <a:rPr lang="en-IN" dirty="0"/>
              <a:t>Input &amp; Control Module</a:t>
            </a:r>
          </a:p>
          <a:p>
            <a:endParaRPr lang="en-IN" dirty="0"/>
          </a:p>
          <a:p>
            <a:r>
              <a:rPr lang="en-IN" dirty="0"/>
              <a:t>API Integration Modules</a:t>
            </a:r>
          </a:p>
          <a:p>
            <a:endParaRPr lang="en-IN" dirty="0"/>
          </a:p>
          <a:p>
            <a:r>
              <a:rPr lang="en-IN" dirty="0"/>
              <a:t>Result Display Module</a:t>
            </a:r>
          </a:p>
          <a:p>
            <a:endParaRPr lang="en-IN" dirty="0"/>
          </a:p>
          <a:p>
            <a:r>
              <a:rPr lang="fr-FR" dirty="0"/>
              <a:t>Skeleton Loader Module (UX </a:t>
            </a:r>
            <a:r>
              <a:rPr lang="fr-FR" dirty="0" err="1"/>
              <a:t>Enhancement</a:t>
            </a:r>
            <a:r>
              <a:rPr lang="fr-FR" dirty="0"/>
              <a:t>)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9111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4630B-30B7-E4BD-F41A-CDB1853DD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B224-8EE7-562F-C318-117A7BEA3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8EBC6-28A1-DEB4-2D7F-07BCAA4B8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User Interface Module</a:t>
            </a:r>
          </a:p>
          <a:p>
            <a:pPr lvl="1"/>
            <a:r>
              <a:rPr lang="en-US" dirty="0"/>
              <a:t>Provides the </a:t>
            </a:r>
            <a:r>
              <a:rPr lang="en-US" b="1" dirty="0"/>
              <a:t>search bar</a:t>
            </a:r>
            <a:r>
              <a:rPr lang="en-US" dirty="0"/>
              <a:t>, </a:t>
            </a:r>
            <a:r>
              <a:rPr lang="en-US" b="1" dirty="0"/>
              <a:t>tabs</a:t>
            </a:r>
            <a:r>
              <a:rPr lang="en-US" dirty="0"/>
              <a:t> (Videos, Code, Papers, Datasets), and </a:t>
            </a:r>
            <a:r>
              <a:rPr lang="en-US" b="1" dirty="0"/>
              <a:t>results area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Styled with dark theme, responsive grid, animations, and skeleton loaders for better UX.</a:t>
            </a:r>
            <a:endParaRPr lang="en-IN" dirty="0"/>
          </a:p>
          <a:p>
            <a:r>
              <a:rPr lang="en-IN" b="1" dirty="0"/>
              <a:t>Input &amp; Control Module:</a:t>
            </a:r>
          </a:p>
          <a:p>
            <a:pPr lvl="1"/>
            <a:r>
              <a:rPr lang="en-IN" dirty="0" err="1"/>
              <a:t>Function:search</a:t>
            </a:r>
            <a:r>
              <a:rPr lang="en-IN" dirty="0"/>
              <a:t>(type)</a:t>
            </a:r>
          </a:p>
          <a:p>
            <a:pPr lvl="2"/>
            <a:r>
              <a:rPr lang="en-US" dirty="0"/>
              <a:t>Takes user query from the search bar</a:t>
            </a:r>
          </a:p>
          <a:p>
            <a:pPr lvl="2"/>
            <a:r>
              <a:rPr lang="en-US" dirty="0"/>
              <a:t>Controls which API is triggered based on the tab selected.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API Integration Modules</a:t>
            </a:r>
          </a:p>
          <a:p>
            <a:pPr lvl="1"/>
            <a:r>
              <a:rPr lang="en-IN" dirty="0"/>
              <a:t>YouTube Search Module: </a:t>
            </a:r>
            <a:r>
              <a:rPr lang="en-IN" dirty="0" err="1"/>
              <a:t>searchYouTube</a:t>
            </a:r>
            <a:r>
              <a:rPr lang="en-IN" dirty="0"/>
              <a:t>(query)</a:t>
            </a:r>
          </a:p>
          <a:p>
            <a:pPr lvl="1"/>
            <a:r>
              <a:rPr lang="en-IN" dirty="0"/>
              <a:t>GitHub Search </a:t>
            </a:r>
            <a:r>
              <a:rPr lang="en-IN" dirty="0" err="1"/>
              <a:t>Module:searchGitHub</a:t>
            </a:r>
            <a:r>
              <a:rPr lang="en-IN" dirty="0"/>
              <a:t>(query)</a:t>
            </a:r>
          </a:p>
          <a:p>
            <a:pPr lvl="1"/>
            <a:r>
              <a:rPr lang="en-IN" dirty="0"/>
              <a:t>Research Papers </a:t>
            </a:r>
            <a:r>
              <a:rPr lang="en-IN" dirty="0" err="1"/>
              <a:t>Module:searchPapers</a:t>
            </a:r>
            <a:r>
              <a:rPr lang="en-IN" dirty="0"/>
              <a:t>(query)</a:t>
            </a:r>
          </a:p>
          <a:p>
            <a:pPr lvl="1"/>
            <a:r>
              <a:rPr lang="en-IN" dirty="0"/>
              <a:t>Datasets </a:t>
            </a:r>
            <a:r>
              <a:rPr lang="en-IN" dirty="0" err="1"/>
              <a:t>Module:searchKaggle</a:t>
            </a:r>
            <a:r>
              <a:rPr lang="en-IN" dirty="0"/>
              <a:t>(query)</a:t>
            </a:r>
          </a:p>
          <a:p>
            <a:endParaRPr lang="en-IN" dirty="0"/>
          </a:p>
          <a:p>
            <a:r>
              <a:rPr lang="en-IN" b="1" dirty="0"/>
              <a:t>Result Display Module</a:t>
            </a:r>
          </a:p>
          <a:p>
            <a:pPr lvl="1"/>
            <a:r>
              <a:rPr lang="en-IN" dirty="0"/>
              <a:t>Dynamically creates result cards (&lt;div class="result-card"&gt;)</a:t>
            </a:r>
          </a:p>
          <a:p>
            <a:pPr lvl="1"/>
            <a:r>
              <a:rPr lang="en-US" dirty="0"/>
              <a:t>Displays title, description/summary, thumbnails (for videos), and links</a:t>
            </a:r>
          </a:p>
          <a:p>
            <a:pPr lvl="1"/>
            <a:r>
              <a:rPr lang="en-US" dirty="0"/>
              <a:t>Includes error handling (“No results found”, “Error fetching ...”).</a:t>
            </a:r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r>
              <a:rPr lang="fr-FR" b="1" dirty="0"/>
              <a:t>Skeleton Loader Module (UX </a:t>
            </a:r>
            <a:r>
              <a:rPr lang="fr-FR" b="1" dirty="0" err="1"/>
              <a:t>Enhancement</a:t>
            </a:r>
            <a:r>
              <a:rPr lang="fr-FR" b="1" dirty="0"/>
              <a:t>)</a:t>
            </a:r>
          </a:p>
          <a:p>
            <a:pPr lvl="1"/>
            <a:r>
              <a:rPr lang="en-IN" dirty="0" err="1"/>
              <a:t>showSkeleton</a:t>
            </a:r>
            <a:r>
              <a:rPr lang="en-IN" dirty="0"/>
              <a:t>() :</a:t>
            </a:r>
          </a:p>
          <a:p>
            <a:pPr lvl="2"/>
            <a:r>
              <a:rPr lang="en-IN" dirty="0"/>
              <a:t>shows </a:t>
            </a:r>
            <a:r>
              <a:rPr lang="en-US" dirty="0"/>
              <a:t>animated placeholder cards while API results are loading.</a:t>
            </a:r>
          </a:p>
          <a:p>
            <a:pPr lvl="2"/>
            <a:r>
              <a:rPr lang="en-US" dirty="0"/>
              <a:t>Improves user experience by reducing “blank waiting time.”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8579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lnSpc>
                <a:spcPct val="20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491958" y="1446195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IN" b="1" dirty="0"/>
              <a:t>Hardware</a:t>
            </a:r>
            <a:r>
              <a:rPr lang="en-IN" dirty="0"/>
              <a:t>: Standard laptop/desktop, 4 GB+ RAM, Internet.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IN" b="1" dirty="0"/>
              <a:t>Software</a:t>
            </a:r>
            <a:r>
              <a:rPr lang="en-IN" dirty="0"/>
              <a:t>:</a:t>
            </a:r>
          </a:p>
          <a:p>
            <a:pPr marL="952500" lvl="1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IN" dirty="0"/>
              <a:t>Languages: HTML, CSS, JavaScript.</a:t>
            </a:r>
          </a:p>
          <a:p>
            <a:pPr marL="952500" lvl="1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IN" dirty="0"/>
              <a:t>APIs: YouTube, GitHub, </a:t>
            </a:r>
            <a:r>
              <a:rPr lang="en-IN" dirty="0" err="1"/>
              <a:t>arXiv</a:t>
            </a:r>
            <a:r>
              <a:rPr lang="en-IN" dirty="0"/>
              <a:t>, Kaggle.</a:t>
            </a:r>
          </a:p>
          <a:p>
            <a:pPr marL="952500" lvl="1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IN" dirty="0"/>
              <a:t>Tools: VS Code, Browser, Git, Hosting (optional)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982F312-742A-64AA-BCC7-6F151803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3DA101-EA61-6127-710A-677EB9FCD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1780B-6B5F-C3CA-DB2A-50CC36A57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88" y="1213317"/>
            <a:ext cx="11863624" cy="50213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86056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6C0D6-6CBE-0BC1-42DA-F486D65C7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4259" y="1402735"/>
            <a:ext cx="11088562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/>
              <a:t>Usha Yadav and Neelam Duhan,</a:t>
            </a:r>
            <a:r>
              <a:rPr lang="en-US" b="1" dirty="0"/>
              <a:t>” Efficient Retrieval of Data Using Semantic Search Engine Based on NLP and RDF”, </a:t>
            </a:r>
            <a:r>
              <a:rPr lang="en-US" dirty="0"/>
              <a:t>in proc. VOLUME 6,</a:t>
            </a:r>
            <a:r>
              <a:rPr lang="en-IN" dirty="0"/>
              <a:t> 27 October 2021</a:t>
            </a:r>
            <a:endParaRPr lang="en-US" dirty="0"/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-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https://ieeexplore.ieee.org/document/10246838</a:t>
            </a:r>
            <a:endParaRPr lang="en-US" dirty="0"/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/>
              <a:t> Daniel M. </a:t>
            </a:r>
            <a:r>
              <a:rPr lang="en-US" dirty="0" err="1"/>
              <a:t>Muepu</a:t>
            </a:r>
            <a:r>
              <a:rPr lang="en-US" dirty="0"/>
              <a:t>, Yutaka </a:t>
            </a:r>
            <a:r>
              <a:rPr lang="en-US" dirty="0" err="1"/>
              <a:t>Watanobe</a:t>
            </a:r>
            <a:r>
              <a:rPr lang="en-US" dirty="0"/>
              <a:t>,"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From Code to Ratings – Enhancing Collaborative Filtering in OJ Systems”,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 proc.</a:t>
            </a:r>
            <a:r>
              <a:rPr lang="en-IN" dirty="0"/>
              <a:t> VOLUME 7, 2019,31 December 2024.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-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https://ieeexplore.ieee.org/document/10813164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IN" dirty="0"/>
              <a:t>Diomidis </a:t>
            </a:r>
            <a:r>
              <a:rPr lang="en-IN" dirty="0" err="1"/>
              <a:t>Spinellis</a:t>
            </a:r>
            <a:r>
              <a:rPr lang="en-IN" dirty="0"/>
              <a:t>, Panagiotis </a:t>
            </a:r>
            <a:r>
              <a:rPr lang="en-IN" dirty="0" err="1"/>
              <a:t>Louridas</a:t>
            </a:r>
            <a:r>
              <a:rPr lang="en-IN" dirty="0"/>
              <a:t>, George </a:t>
            </a:r>
            <a:r>
              <a:rPr lang="en-IN" dirty="0" err="1"/>
              <a:t>Gousios</a:t>
            </a:r>
            <a:r>
              <a:rPr lang="en-IN" dirty="0"/>
              <a:t>, Ioannis </a:t>
            </a:r>
            <a:r>
              <a:rPr lang="en-IN" dirty="0" err="1"/>
              <a:t>Chatzigiannakis</a:t>
            </a:r>
            <a:r>
              <a:rPr lang="en-IN" dirty="0"/>
              <a:t>,”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Using Research Literature to Generate Datasets of Implicit Feedback (LIBRETTI)”,</a:t>
            </a:r>
            <a:r>
              <a:rPr lang="en-IN" dirty="0"/>
              <a:t>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 proc.</a:t>
            </a:r>
            <a:r>
              <a:rPr lang="en-IN" dirty="0"/>
              <a:t> VOLUME 7, 2019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IN" dirty="0"/>
              <a:t>,December 23, 2019.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>
                <a:latin typeface="+mn-lt"/>
              </a:rPr>
              <a:t>	- </a:t>
            </a:r>
            <a:r>
              <a:rPr lang="en-US" sz="1800" dirty="0">
                <a:hlinkClick r:id="rId5"/>
              </a:rPr>
              <a:t>https://ieeexplore.ieee.org/document/8924687</a:t>
            </a:r>
            <a:endParaRPr lang="en-IN" dirty="0">
              <a:latin typeface="+mn-lt"/>
            </a:endParaRPr>
          </a:p>
          <a:p>
            <a:pPr marL="1257300"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51CF9-CE6B-09C9-4B30-4FE77B49E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C7AFE-F917-599B-47E4-85261567B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1379200" cy="495300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Renjie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Zhou,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Dongchen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Xia, Jian Wan, Sanyuan Zhang,”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 Intelligent Video Tag Recommendation Method for Improving Video Popularity in Mobile”,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proc.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VOLUME 8, 2020, January 14, 2020.</a:t>
            </a:r>
            <a:r>
              <a:rPr lang="en-IN" sz="2000" b="1" dirty="0">
                <a:latin typeface="Arial Black" panose="020B0A04020102020204" pitchFamily="34" charset="0"/>
                <a:hlinkClick r:id="rId2"/>
              </a:rPr>
              <a:t> </a:t>
            </a:r>
          </a:p>
          <a:p>
            <a:pPr lvl="1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https://ieeexplore.ieee.org/document/8938802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PAOLA INGAVÉLEZ-GUERRA , VLADIMIR E. ROBLES-BYKBAEV 1 , ANGEL PÉREZ-MUÑOZ ,JOSÉ HILERA-GONZÁLEZ  , AND SALVADOR OTÓN-TORTOSA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,”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Automatic Adaptation of Open Educational Resources: An Approach From a Multilevel Methodology Based on Students’ Preferences, Educational Special Needs, Artificial Intelligence and Accessibility Metadata”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in proc. VOLUME 10, 2022, January 27, 2022.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https://ieeexplore.ieee.org/document/9669174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M. M. EL-GAYAR , N. E. MEKKY1, A. ATWAN2 , AND H. SOLIMAN,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“Enhanced Search Engine Using Proposed Framework and Ranking Algorithm Based on Semantic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Relations”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,in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proc.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VOLUME 7, 2019, October 7, 2019.</a:t>
            </a:r>
          </a:p>
          <a:p>
            <a:pPr lvl="1"/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https://ieeexplore.ieee.org/document/8840848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0C08-1FCD-3376-C15D-3580113A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55CE5-C6B9-C1F2-00DA-D65A3E113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CARLA LIMONGELLI  , MATTEO LOMBARDI  , ALESSANDRO MARANI, AND DAVIDE TAIBI,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 Semantic Approach to Ranking Techniques: Improving Web Page Searches for Educational Purposes ”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in proc. VOLUME 10, 2022, 27 June 2022.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https://ieeexplore.ieee.org/document/9807311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620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JOHN B. KILLORAN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, “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How to Use Search Engine Optimization Techniques to Increase Website Visibility”,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proc.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VOLUME 56, 1, MARCH 2013.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https://ieeexplore.ieee.org/document/6463486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620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ICHRAK SAIF, ABDELAZIZ SDIGUI DOUKKALI, ADIL ENAANAI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,”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GENAUM: NEW SEMANTIC DISTRIBUTED SEARCH ENGINE “,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Mobile Multimedia, Vol. 12, No.3&amp;4 (2017) 210-221.</a:t>
            </a:r>
          </a:p>
          <a:p>
            <a:pPr lvl="1"/>
            <a:r>
              <a:rPr lang="en-US" sz="1600" b="1" dirty="0">
                <a:latin typeface="+mn-lt"/>
                <a:hlinkClick r:id="rId4"/>
              </a:rPr>
              <a:t>https://ieeexplore.ieee.org/document/11079888</a:t>
            </a:r>
            <a:endParaRPr lang="en-IN" sz="1600" dirty="0">
              <a:latin typeface="+mn-lt"/>
              <a:cs typeface="Arial" panose="020B0604020202020204" pitchFamily="34" charset="0"/>
            </a:endParaRPr>
          </a:p>
          <a:p>
            <a:pPr marL="7620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KAILASH A. HAMBARDE AND HUGO PROENÇA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,”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Information Retrieval: Recent Advances and Beyond”,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VOLUME 11, 2023, 14 July 2023.</a:t>
            </a:r>
          </a:p>
          <a:p>
            <a:pPr lvl="1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https://ieeexplore.ieee.org/document/10184013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11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7620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altLang="en-US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https://github.com/Nithin3003/ISE_11-Capstone-Project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2615</Words>
  <Application>Microsoft Office PowerPoint</Application>
  <PresentationFormat>Widescreen</PresentationFormat>
  <Paragraphs>360</Paragraphs>
  <Slides>28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 Black</vt:lpstr>
      <vt:lpstr>Arial Rounded MT Bold</vt:lpstr>
      <vt:lpstr>Cambria</vt:lpstr>
      <vt:lpstr>Verdana</vt:lpstr>
      <vt:lpstr>Wingdings</vt:lpstr>
      <vt:lpstr>Bioinformatics</vt:lpstr>
      <vt:lpstr>Student Innovation</vt:lpstr>
      <vt:lpstr>Content</vt:lpstr>
      <vt:lpstr>Abstract: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Objectives:</vt:lpstr>
      <vt:lpstr>Existing Methods and Drawbacks</vt:lpstr>
      <vt:lpstr>Proposed Method</vt:lpstr>
      <vt:lpstr>How We Overcomes Existing Drawbacks</vt:lpstr>
      <vt:lpstr>Feasibility Study</vt:lpstr>
      <vt:lpstr>Block Diagram</vt:lpstr>
      <vt:lpstr>Modules</vt:lpstr>
      <vt:lpstr>Modules</vt:lpstr>
      <vt:lpstr>Software and Hardware Requirements: </vt:lpstr>
      <vt:lpstr>Timeline of the Project (Gantt Chart)</vt:lpstr>
      <vt:lpstr>References (IEEE Paper format)</vt:lpstr>
      <vt:lpstr>References (IEEE Paper format)</vt:lpstr>
      <vt:lpstr>References (IEEE Paper format)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ADITYA VS</cp:lastModifiedBy>
  <cp:revision>76</cp:revision>
  <dcterms:created xsi:type="dcterms:W3CDTF">2025-08-13T05:26:29Z</dcterms:created>
  <dcterms:modified xsi:type="dcterms:W3CDTF">2025-09-05T17:53:58Z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59021E74CBF64697B0BDE6130A6B724D_12</vt:lpwstr>
  </property>
  <property fmtid="{D5CDD505-2E9C-101B-9397-08002B2CF9AE}" pid="3" name="KSOProductBuildVer">
    <vt:lpwstr>1033-12.2.0.21931</vt:lpwstr>
  </property>
</Properties>
</file>