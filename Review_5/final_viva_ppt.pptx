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0"/>
  </p:notesMasterIdLst>
  <p:sldIdLst>
    <p:sldId id="256" r:id="rId2"/>
    <p:sldId id="317" r:id="rId3"/>
    <p:sldId id="291" r:id="rId4"/>
    <p:sldId id="305" r:id="rId5"/>
    <p:sldId id="306" r:id="rId6"/>
    <p:sldId id="277" r:id="rId7"/>
    <p:sldId id="282" r:id="rId8"/>
    <p:sldId id="283" r:id="rId9"/>
    <p:sldId id="286" r:id="rId10"/>
    <p:sldId id="298" r:id="rId11"/>
    <p:sldId id="285" r:id="rId12"/>
    <p:sldId id="297" r:id="rId13"/>
    <p:sldId id="288" r:id="rId14"/>
    <p:sldId id="289" r:id="rId15"/>
    <p:sldId id="290" r:id="rId16"/>
    <p:sldId id="307" r:id="rId17"/>
    <p:sldId id="275" r:id="rId18"/>
    <p:sldId id="292" r:id="rId19"/>
    <p:sldId id="331" r:id="rId20"/>
    <p:sldId id="294" r:id="rId21"/>
    <p:sldId id="308" r:id="rId22"/>
    <p:sldId id="295" r:id="rId23"/>
    <p:sldId id="299" r:id="rId24"/>
    <p:sldId id="316" r:id="rId25"/>
    <p:sldId id="309" r:id="rId26"/>
    <p:sldId id="319" r:id="rId27"/>
    <p:sldId id="318" r:id="rId28"/>
    <p:sldId id="311" r:id="rId29"/>
    <p:sldId id="312" r:id="rId30"/>
    <p:sldId id="313" r:id="rId31"/>
    <p:sldId id="314" r:id="rId32"/>
    <p:sldId id="330" r:id="rId33"/>
    <p:sldId id="329" r:id="rId34"/>
    <p:sldId id="328" r:id="rId35"/>
    <p:sldId id="327" r:id="rId36"/>
    <p:sldId id="315" r:id="rId37"/>
    <p:sldId id="326" r:id="rId38"/>
    <p:sldId id="325" r:id="rId39"/>
    <p:sldId id="324" r:id="rId40"/>
    <p:sldId id="323" r:id="rId41"/>
    <p:sldId id="310" r:id="rId42"/>
    <p:sldId id="320" r:id="rId43"/>
    <p:sldId id="300" r:id="rId44"/>
    <p:sldId id="265" r:id="rId45"/>
    <p:sldId id="303" r:id="rId46"/>
    <p:sldId id="304" r:id="rId47"/>
    <p:sldId id="268" r:id="rId48"/>
    <p:sldId id="266" r:id="rId4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8CDAB-5470-42AF-9017-BDD4579379BC}" v="63" dt="2025-09-04T05:55:37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D0DBCB5-37E1-BAE5-754C-DD0398F40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50D97960-BA5D-7C80-73F5-7D7838DE0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8E7182D5-25EE-4C36-B6AE-62C20A3CD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0697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6F4BD6B-52E1-5B2C-9F6A-73CE9F90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700AAEF-CC0C-8956-5272-4E20C35C1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FD8CF63-68A4-3576-C783-AB823383B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47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24683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stamp/stamp.jsp?tp=&amp;arnumber=1081316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924687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93880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669174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840848" TargetMode="External"/><Relationship Id="rId2" Type="http://schemas.openxmlformats.org/officeDocument/2006/relationships/hyperlink" Target="https://ieeexplore.ieee.org/stamp/stamp.jsp?tp=&amp;arnumber=10813164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80731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646348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107988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18401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24683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8924687" TargetMode="External"/><Relationship Id="rId4" Type="http://schemas.openxmlformats.org/officeDocument/2006/relationships/hyperlink" Target="https://ieeexplore.ieee.org/stamp/stamp.jsp?tp=&amp;arnumber=10813164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9669174" TargetMode="External"/><Relationship Id="rId2" Type="http://schemas.openxmlformats.org/officeDocument/2006/relationships/hyperlink" Target="https://ieeexplore.ieee.org/document/893880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8840848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6463486" TargetMode="External"/><Relationship Id="rId2" Type="http://schemas.openxmlformats.org/officeDocument/2006/relationships/hyperlink" Target="https://ieeexplore.ieee.org/document/980731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0184013" TargetMode="External"/><Relationship Id="rId4" Type="http://schemas.openxmlformats.org/officeDocument/2006/relationships/hyperlink" Target="https://ieeexplore.ieee.org/document/11079888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41308" y="683641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Innovation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6" y="2045352"/>
            <a:ext cx="462825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ISE_11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385623" y="241872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GB" sz="20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Under the Supervision of,</a:t>
            </a:r>
            <a:endParaRPr lang="en-GB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John Bennet J</a:t>
            </a: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Assistant Professor</a:t>
            </a:r>
            <a:endParaRPr lang="en-IN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School of Computer Science and Engineering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Presidency University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287799530"/>
              </p:ext>
            </p:extLst>
          </p:nvPr>
        </p:nvGraphicFramePr>
        <p:xfrm>
          <a:off x="208546" y="2597653"/>
          <a:ext cx="7042485" cy="4154263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8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5413"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20221ISE0066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20221ISE0032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20221ISE0062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Nithin M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Aditya V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Chiranthan T C Nadig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4660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Capstone Project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Final Viva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208546" y="4812022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Program: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Information</a:t>
            </a:r>
            <a:r>
              <a:rPr lang="en-IN" alt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Science and Engineering</a:t>
            </a:r>
            <a:endParaRPr lang="en-US" sz="18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Dr. Zafar Ali Khan N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Ms .Suma N 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Dr. Sampath A K , Dr. Geetha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Arjunan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1264B-EC28-8A51-838F-A41AD50ADF1C}"/>
              </a:ext>
            </a:extLst>
          </p:cNvPr>
          <p:cNvSpPr txBox="1"/>
          <p:nvPr/>
        </p:nvSpPr>
        <p:spPr>
          <a:xfrm>
            <a:off x="434724" y="1435332"/>
            <a:ext cx="115195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UNIFIED EDUCATIONAL RESOURCE SEARCH ENGINE WITH INTELLIGENT RANKING FOR SMART EDUCATION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ABCCE88-68DA-8A73-0276-3C600468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944D3AF3-7A63-4769-C571-17FCDE7ED2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2C2A084B-F28F-88BA-17C2-13A3E7B2A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6563" y="1102592"/>
            <a:ext cx="10668000" cy="509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and Drawbacks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Goal Mapping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Link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687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0B06-059B-6285-13FF-61C7F5C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BC4D1A-D2D3-9B0F-4D67-0A8DCB40A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9753" y="1417375"/>
            <a:ext cx="11248065" cy="3239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study search engine provides a unified platform to access videos, code repositories, research papers, and datasets.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the process of finding educational resources by integrating multiple trusted sources.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systems were limited to single domains and lacked personalization or ranking mechanisms.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updated system bridges these gaps by introducing user management, feedback collection, and ranked search results for a more interactive learning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60251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06FD-C747-D43E-C572-865C1773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21BA1-8A01-B43E-D503-AA6C78FFE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era, learners depend on multiple online platforms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accessing educational materials.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these platforms provides valuable resources — videos for tutorials, repositories for code, papers for research, and datasets for experiments.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due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fragmentation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users spend a significant amount of time manually searching and filtering results across sources.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lack of a unified system reduces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efficiency and productivity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students and researchers.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328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155F-08D9-455A-2B6D-9BCDC5C1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1AFAF-2942-79C2-4F03-AD0B113AD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challenges, our project introduces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Search Engine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integrates multiple learning sources into a single platform.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applies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mechanism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sort results based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relevance, popularity, and recency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the most useful content appears first.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enhanced version,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individuals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register, log in, and maintain personalized profiles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user opinions to refine recommendations.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system not only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search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also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intelligent, user-driven learning assistant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64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F63B25-929E-6330-E1DD-8565E6101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797179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786884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178407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+ RDF triples boost semantic retrieval efficiency.</a:t>
                      </a:r>
                    </a:p>
                    <a:p>
                      <a:pPr lvl="3"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RDF links heterogeneous data effectively.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NLP entity extraction.</a:t>
                      </a: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RDF triple storage &amp; SPARQL queries.</a:t>
                      </a: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IR pipeline: NLP → RDF → retrieval.</a:t>
                      </a: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RDF knowledge graph structure.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engineering domain.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personalization and categorization.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RDF-like ideas to structure multi-API metadata.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Apply to multi-source educational search.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96D990-F91B-9548-EE2D-622E5D2ECB0E}"/>
              </a:ext>
            </a:extLst>
          </p:cNvPr>
          <p:cNvSpPr txBox="1"/>
          <p:nvPr/>
        </p:nvSpPr>
        <p:spPr>
          <a:xfrm>
            <a:off x="265470" y="1291454"/>
            <a:ext cx="6961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Retrieval Using Semantic Search with NLP and RDF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https://ieeexplore.ieee.org/document/10246838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EF63-CE0D-69F5-EEB5-11606905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9EE67-3EC1-7A2A-70D6-E86E4D0E729A}"/>
              </a:ext>
            </a:extLst>
          </p:cNvPr>
          <p:cNvSpPr txBox="1"/>
          <p:nvPr/>
        </p:nvSpPr>
        <p:spPr>
          <a:xfrm>
            <a:off x="433136" y="1314874"/>
            <a:ext cx="115130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Code to Ratings: Converting Programming Data to Enhance Collaborative Filtering in Educational Online Judge Systems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https://ieeexplore.ieee.org/document/10813164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1D7CC0-A9F7-D55F-AB57-54D448A12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068210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843213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013364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891243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logs converted to ratings for collaborative filtering. </a:t>
                      </a:r>
                    </a:p>
                    <a:p>
                      <a:pPr lvl="3" algn="l"/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recommendation accuracy.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 analysis &amp; rating conversion.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Collaborative Filtering (NCF)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Conversion pipeline: logs → ratings → NCF.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Implicit feedback-based recommender.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Domain-limited to coding platforms.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Doesn’t generalize to multi-source data.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multi-source APIs (YouTube, GitHub, Kaggle,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to gather programming and educational content.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Apply collaborative filtering combined with semantic ranking and user feedback for personalization.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10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525CF-90FF-A0C7-5A4B-10EF8239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7CF8C-EB74-22EF-1939-78E7F501DD99}"/>
              </a:ext>
            </a:extLst>
          </p:cNvPr>
          <p:cNvSpPr txBox="1"/>
          <p:nvPr/>
        </p:nvSpPr>
        <p:spPr>
          <a:xfrm>
            <a:off x="304800" y="1261230"/>
            <a:ext cx="115725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Research Literature to Generate Datasets of Implicit Feedback for Recommending Scientific Items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://ieeexplore.ieee.org/document/8924687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96C74F-D0DD-113E-2660-BF6B7BB29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61749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71813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893478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Implicit feedback (authorship, citations) forms datasets. </a:t>
                      </a:r>
                    </a:p>
                    <a:p>
                      <a:pPr lvl="3" algn="l"/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Useful when explicit ratings are missing.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Literature mining &amp; entity mapping.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Utility matrix generation from implicit signals.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LIBRETTI workflow: entity → mapping → dataset. </a:t>
                      </a:r>
                    </a:p>
                    <a:p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Implicit rating-based recommender.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scientific literature.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coverage for code, videos, or datasets.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 multi-source APIs (YouTube, GitHub, Kaggle,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to collect interactions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Generate implicit feedback-based recommendations across videos, datasets, and code, integrating them into the search engine.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56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14F4-B574-8859-9A7A-4F8CBADF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4D86D-44DE-328A-F308-DAB50B395C55}"/>
              </a:ext>
            </a:extLst>
          </p:cNvPr>
          <p:cNvSpPr txBox="1"/>
          <p:nvPr/>
        </p:nvSpPr>
        <p:spPr>
          <a:xfrm>
            <a:off x="377248" y="1050796"/>
            <a:ext cx="115930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Video Tag Recommendation Method for Improving Video Popularity in Mobile Computing Environment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: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https://ieeexplore.ieee.org/document/8938802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F05B79-8033-3F6E-CA0E-A3E8D7597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128409"/>
              </p:ext>
            </p:extLst>
          </p:nvPr>
        </p:nvGraphicFramePr>
        <p:xfrm>
          <a:off x="377248" y="1904565"/>
          <a:ext cx="11379201" cy="3839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668195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239938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524985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670243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85060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989278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tagging improves video discoverability and engagement. </a:t>
                      </a:r>
                    </a:p>
                    <a:p>
                      <a:pPr lvl="3" algn="l"/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recommend relevant content to users in mobile environments.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video content and metadata to generate tags.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machine learning for tag prediction and relevance scoring..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Video tag recommendation pipeline: Video → Feature extraction → Tag prediction → Recommendation. </a:t>
                      </a:r>
                    </a:p>
                    <a:p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Popularity-aware ranking for recommended videos.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video platforms.</a:t>
                      </a:r>
                    </a:p>
                    <a:p>
                      <a:pPr marL="0" indent="0"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integrated with multi-source educational resources.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multi-source APIs (YouTube, GitHub, Kaggle,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to fetch educational videos.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Apply ML-based tagging and semantic ranking to improve discoverability and relevance in the search engine.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505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48DF-C712-0AA9-F8AE-F4392219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DE1A61-DCBD-541C-9485-D6DCDBE47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159082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marL="0" lvl="3" indent="0"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OERs personalize content using student preferences &amp; accessibility. </a:t>
                      </a:r>
                    </a:p>
                    <a:p>
                      <a:pPr marL="0" lvl="3" indent="0" algn="l">
                        <a:buNone/>
                      </a:pP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adaptation improves inclusivity.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profiling &amp; preference-based adaptation. </a:t>
                      </a:r>
                    </a:p>
                    <a:p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AI/ML-driven multilevel content delivery.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Profile → Matching → Resource delivery pipeline.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Multilevel adaptation framework.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OER only.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Small-scale evaluation; lacks cross-platform integration.</a:t>
                      </a:r>
                    </a:p>
                    <a:p>
                      <a:pPr marL="0" indent="0">
                        <a:buNone/>
                      </a:pP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Extend personalization to multi-source educational search.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Include videos, datasets, code, and papers.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AD916D-A4EC-2A6E-CD3F-D4BBB825C487}"/>
              </a:ext>
            </a:extLst>
          </p:cNvPr>
          <p:cNvSpPr txBox="1"/>
          <p:nvPr/>
        </p:nvSpPr>
        <p:spPr>
          <a:xfrm>
            <a:off x="167148" y="1141754"/>
            <a:ext cx="11857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Adaptation of Open Educational Resources: An Approach From a Multilevel Methodology Based on Students’ Preferences, Educational Special Needs, Artificial Intelligence and Accessibility Metadata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://ieeexplore.ieee.org/document/9669174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6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E743-014F-C2D7-3F40-B05B4C95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8B012-641E-FAF5-8EBE-50C6EE5519C1}"/>
              </a:ext>
            </a:extLst>
          </p:cNvPr>
          <p:cNvSpPr txBox="1"/>
          <p:nvPr/>
        </p:nvSpPr>
        <p:spPr>
          <a:xfrm>
            <a:off x="336884" y="1261230"/>
            <a:ext cx="11566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Search Engine Using Proposed Framework and Ranking Algorithm Based on Semantic Relations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https://ieeexplore.ieee.org/document/8840848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87FCC5-522B-8718-1A16-826BA8AD1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662867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4064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92465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relations improve ranking, precision &amp; recall. </a:t>
                      </a:r>
                    </a:p>
                    <a:p>
                      <a:pPr lvl="3" algn="l"/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Outperforms keyword-based search engines..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query expansion using ontologies.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semantic ranking algorithms..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Expansion + relation extraction → re-ranking.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ranking framework.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on small datasets only.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Doesn’t categorize by resource type.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semantic ranking to multi-source API integration.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Categorize results by videos, code, datasets, and papers.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04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01E3-BFCD-8327-9FFC-EC72C475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40FB7A-0049-B6A1-C095-3441E24FB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7728"/>
              </p:ext>
            </p:extLst>
          </p:nvPr>
        </p:nvGraphicFramePr>
        <p:xfrm>
          <a:off x="167148" y="2352368"/>
          <a:ext cx="11857704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ranking improves relevance of educational web searches. </a:t>
                      </a:r>
                    </a:p>
                    <a:p>
                      <a:pPr lvl="3" algn="l"/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matches learner intent compared to traditional keyword search.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Ontology mapping for concept understanding.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similarity scoring and re-ranking of search results.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re-ranking model for educational content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Education-specific semantic ontology to guide ranking.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mainly for educational websites.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support for multi-source content like videos, datasets, or code.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Generalize semantic ranking to multiple educational sources.</a:t>
                      </a:r>
                    </a:p>
                    <a:p>
                      <a:pPr marL="0" indent="0"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Implement API-driven integration for videos, code, datasets, and papers.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BF2951-B1BF-553B-F2DC-3B4B73F307A7}"/>
              </a:ext>
            </a:extLst>
          </p:cNvPr>
          <p:cNvSpPr txBox="1"/>
          <p:nvPr/>
        </p:nvSpPr>
        <p:spPr>
          <a:xfrm>
            <a:off x="375005" y="1389048"/>
            <a:ext cx="11543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Semantic Approach to Ranking Techniques: Improving Web Page Searches for Educational Purposes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://ieeexplore.ieee.org/document/9807311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282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4FBD-4953-6401-CD91-7A59BC01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9A50F-93E0-F873-B527-2CF19FF96981}"/>
              </a:ext>
            </a:extLst>
          </p:cNvPr>
          <p:cNvSpPr txBox="1"/>
          <p:nvPr/>
        </p:nvSpPr>
        <p:spPr>
          <a:xfrm>
            <a:off x="167146" y="1054752"/>
            <a:ext cx="113136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Search Engine Optimization Techniques to Increase Website Visibility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://ieeexplore.ieee.org/document/6463486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9AA7B0-8C1A-4199-D148-A336AB539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715931"/>
              </p:ext>
            </p:extLst>
          </p:nvPr>
        </p:nvGraphicFramePr>
        <p:xfrm>
          <a:off x="201560" y="1767347"/>
          <a:ext cx="11788879" cy="383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775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2435570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998724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230431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6637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94894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888099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SEO improves website visibility on search engines. </a:t>
                      </a:r>
                    </a:p>
                    <a:p>
                      <a:pPr lvl="3" algn="l"/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Increases organic traffic and engagement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On-page optimization: keywords, meta tags, internal links. </a:t>
                      </a:r>
                    </a:p>
                    <a:p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Off-page optimization: backlinks, social promotion; Technical SEO &amp; content strategy.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SEO workflow: Keyword research → On-page + Off-page → Technical setup → Content publishing → Monitoring. </a:t>
                      </a:r>
                    </a:p>
                    <a:p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Iterative optimization loop based on analytics feedback.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organic search; no multi-platform coverage.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 varies with competition and algorithm changes.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multi-source APIs (YouTube, GitHub, Kaggle,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to fetch educational content.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semantic ranking, categorization, and feedback-based personalization.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473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6D11-417D-B1EE-945E-2269EB0F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438CA-D2EB-D5FB-C250-04ABBC53E228}"/>
              </a:ext>
            </a:extLst>
          </p:cNvPr>
          <p:cNvSpPr txBox="1"/>
          <p:nvPr/>
        </p:nvSpPr>
        <p:spPr>
          <a:xfrm>
            <a:off x="309458" y="996832"/>
            <a:ext cx="101018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GENAUM: New Semantic Distributed Search Engine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://ieeexplore.ieee.org/document/11079888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396C39-09B8-FC27-F097-A66C289B9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470875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semantic search improves scalability. </a:t>
                      </a:r>
                    </a:p>
                    <a:p>
                      <a:pPr lvl="3" algn="l"/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Agent-based systems provide faster responses.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search architecture.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Ontology-driven semantic indexing.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Agent-based distributed engine.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Decentralized semantic search nodes.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Prototype-level; small-scale testing.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applied to education or multi-source APIs.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 distributed architecture for multi-source APIs.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response time and scalability.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184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1678-7FD2-63BC-6DEC-A49617EF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1B8D2-B524-CE92-3450-F891450E1C66}"/>
              </a:ext>
            </a:extLst>
          </p:cNvPr>
          <p:cNvSpPr txBox="1"/>
          <p:nvPr/>
        </p:nvSpPr>
        <p:spPr>
          <a:xfrm>
            <a:off x="336884" y="1200314"/>
            <a:ext cx="10940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Retrieval: Recent Advances and Beyond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://ieeexplore.ieee.org/document/10184013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BD1CEB-C321-DC21-F077-CEB79E268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78154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Two-stage retrieval (fetch + re-ranking) widely used. </a:t>
                      </a:r>
                    </a:p>
                    <a:p>
                      <a:pPr lvl="3" algn="l"/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ranking improves precision &amp; recall.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Lexical search methods (BM25, TF-IDF).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Semantic/neural re-ranking..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Two-stage IR pipeline. </a:t>
                      </a: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Combination of lexical + neural methods.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survey; no focus on education. 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Doesn’t handle multi-source or API integration.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Adopt modular fetch + semantic re-ranking. </a:t>
                      </a:r>
                    </a:p>
                    <a:p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to educational multi-source API search.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518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549C7-C0B7-A5AB-BAFC-8EC39B10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8EDD1-BC63-523E-6BCA-65540A86C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Students, developers, and researchers face difficulty in finding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learning materials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information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 across multiple platforms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YouTube, GitHub,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Kaggle.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search engines are either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a single source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incomplete and repetitive results.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also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mechanism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ranking, feedback collection, or user-specific recommendations.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retrieves, ranks, and personalizes results from multiple educational sources in one place.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B64941B-BE90-AEDF-E45A-0AD34E733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7979"/>
            <a:ext cx="11298382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videos, research papers, code, and datasets.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algorithm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sort results by relevance, popularity, and recency.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secure login and registration.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users to share suggestions and improve results.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user history to provide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responsive and interactive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access.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2E0B-470C-508E-6BA3-21D71349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2F00E-2E7D-9987-5D79-F993C0BC5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search engines rely mostly 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platforms provide search for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sources only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only papers or only videos).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educational tools adapt content but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comprehensive search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capabilities.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results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platforms.</a:t>
            </a:r>
          </a:p>
          <a:p>
            <a:pPr lvl="1"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and intent of queries often ignored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keyword-based searches.</a:t>
            </a:r>
          </a:p>
          <a:p>
            <a:pPr lvl="1"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categorization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resources (videos, code, datasets, papers).</a:t>
            </a:r>
          </a:p>
          <a:p>
            <a:pPr lvl="1"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users to gather and filter relevant materials.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896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39A08-F34E-EDB8-A5C5-59E55E85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 (SDG) Mapping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CCBBB6-F647-64DE-6C4B-CF02DFF74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218439"/>
              </p:ext>
            </p:extLst>
          </p:nvPr>
        </p:nvGraphicFramePr>
        <p:xfrm>
          <a:off x="1641987" y="1478697"/>
          <a:ext cx="9242323" cy="390060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2579525">
                  <a:extLst>
                    <a:ext uri="{9D8B030D-6E8A-4147-A177-3AD203B41FA5}">
                      <a16:colId xmlns:a16="http://schemas.microsoft.com/office/drawing/2014/main" val="2357343665"/>
                    </a:ext>
                  </a:extLst>
                </a:gridCol>
                <a:gridCol w="3460960">
                  <a:extLst>
                    <a:ext uri="{9D8B030D-6E8A-4147-A177-3AD203B41FA5}">
                      <a16:colId xmlns:a16="http://schemas.microsoft.com/office/drawing/2014/main" val="1415341777"/>
                    </a:ext>
                  </a:extLst>
                </a:gridCol>
                <a:gridCol w="3201838">
                  <a:extLst>
                    <a:ext uri="{9D8B030D-6E8A-4147-A177-3AD203B41FA5}">
                      <a16:colId xmlns:a16="http://schemas.microsoft.com/office/drawing/2014/main" val="2910555534"/>
                    </a:ext>
                  </a:extLst>
                </a:gridCol>
              </a:tblGrid>
              <a:tr h="441675">
                <a:tc>
                  <a:txBody>
                    <a:bodyPr/>
                    <a:lstStyle/>
                    <a:p>
                      <a:pPr marL="457200">
                        <a:spcBef>
                          <a:spcPts val="315"/>
                        </a:spcBef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</a:t>
                      </a:r>
                      <a:r>
                        <a:rPr lang="en-US" sz="1600" b="1" spc="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2625">
                        <a:spcBef>
                          <a:spcPts val="315"/>
                        </a:spcBef>
                        <a:buNone/>
                      </a:pPr>
                      <a:r>
                        <a:rPr lang="en-US" sz="1600" b="1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95910">
                        <a:spcBef>
                          <a:spcPts val="315"/>
                        </a:spcBef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  <a:r>
                        <a:rPr lang="en-US" sz="1600" b="1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4034956"/>
                  </a:ext>
                </a:extLst>
              </a:tr>
              <a:tr h="881885">
                <a:tc>
                  <a:txBody>
                    <a:bodyPr/>
                    <a:lstStyle/>
                    <a:p>
                      <a:pPr algn="ctr">
                        <a:lnSpc>
                          <a:spcPct val="98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</a:t>
                      </a:r>
                      <a:r>
                        <a:rPr lang="en-US" sz="1600" b="1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600" b="1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600" b="1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</a:t>
                      </a:r>
                      <a:r>
                        <a:rPr lang="en-US" sz="1600" b="1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111760"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sure that all students receive high-quality education that is inclusive and equitable, and encourage opportunities for lifelong learning.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79375"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Offers well-organized, easily accessible, and cost-free learning materials across several platforms.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10904921"/>
                  </a:ext>
                </a:extLst>
              </a:tr>
              <a:tr h="879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</a:t>
                      </a:r>
                      <a:r>
                        <a:rPr lang="en-US" sz="1600" b="1" spc="-7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-US" sz="1600" b="1" spc="-6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600" b="1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Industry, Innovation and </a:t>
                      </a:r>
                      <a:r>
                        <a:rPr lang="en-US" sz="1600" b="1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Infrastructure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Encourage innovation, advance sustainable industrialization, and construct robust infrastructure.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145415"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Encourages open-source innovation by facilitating cross-disciplinary access and GitHub integration.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3058139"/>
                  </a:ext>
                </a:extLst>
              </a:tr>
              <a:tr h="8723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</a:t>
                      </a:r>
                      <a:r>
                        <a:rPr lang="en-US" sz="1600" b="1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sz="1600" b="1" spc="-5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600" b="1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</a:t>
                      </a:r>
                      <a:r>
                        <a:rPr lang="en-US" sz="1600" b="1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Inequalities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Minimize disparities in access to technology and education.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83820" algn="l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Permits students to access global resources without any restrictions on subscriptions.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93137216"/>
                  </a:ext>
                </a:extLst>
              </a:tr>
              <a:tr h="722940">
                <a:tc>
                  <a:txBody>
                    <a:bodyPr/>
                    <a:lstStyle/>
                    <a:p>
                      <a:pPr marR="1270" algn="ctr">
                        <a:spcBef>
                          <a:spcPts val="5"/>
                        </a:spcBef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</a:t>
                      </a:r>
                      <a:r>
                        <a:rPr lang="en-US" sz="1600" b="1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en-US" sz="1600" b="1" spc="-6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600" b="1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Responsible Consumption and </a:t>
                      </a:r>
                      <a:r>
                        <a:rPr lang="en-US" sz="1600" b="1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Production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sure patterns of production and consumption are sustainable.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50800" algn="l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the need for printed materials while promoting the use of digital learning.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9990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837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240B-831A-7BFD-2014-D3D9A7AC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050D9-86DE-91C7-F947-E76B14993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64343"/>
            <a:ext cx="9766461" cy="4459146"/>
          </a:xfrm>
        </p:spPr>
        <p:txBody>
          <a:bodyPr/>
          <a:lstStyle/>
          <a:p>
            <a:pPr marL="7620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of the Proposed System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687DC3-1D50-4A86-9E39-E9385CC1D3E3}"/>
              </a:ext>
            </a:extLst>
          </p:cNvPr>
          <p:cNvGrpSpPr/>
          <p:nvPr/>
        </p:nvGrpSpPr>
        <p:grpSpPr>
          <a:xfrm>
            <a:off x="581305" y="1543664"/>
            <a:ext cx="10668000" cy="4361835"/>
            <a:chOff x="812800" y="1194756"/>
            <a:chExt cx="10668000" cy="434566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CBFD1A-0D30-D6B9-F769-C83BB15EB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2262"/>
            <a:stretch>
              <a:fillRect/>
            </a:stretch>
          </p:blipFill>
          <p:spPr>
            <a:xfrm>
              <a:off x="812800" y="1194756"/>
              <a:ext cx="10668000" cy="434566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7E39EF0-F494-D31C-A8DD-14F5551F1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6074" y="3149308"/>
              <a:ext cx="3391373" cy="23911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7089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19A7-DA10-8BA9-D0B2-731E496A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60742-A49F-ED5A-32A0-22E274C5C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Algorithm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Score = (0.6 × Views) + (0.4 × Likes)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Score = (0.7 × Stars) + (0.3 × Forks)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Papers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Score = Recency = 1 /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CurrentYear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PublishedYear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Score = (0.5 × Downloads) + (0.5 × Usability × 1000)</a:t>
            </a:r>
          </a:p>
        </p:txBody>
      </p:sp>
    </p:spTree>
    <p:extLst>
      <p:ext uri="{BB962C8B-B14F-4D97-AF65-F5344CB8AC3E}">
        <p14:creationId xmlns:p14="http://schemas.microsoft.com/office/powerpoint/2010/main" val="2749965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2AD0-C587-4E51-C3F0-BD99BAA3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0F8699-C6FE-704C-82C1-B76B2636C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842960"/>
            <a:ext cx="9579897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&amp; Control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Ranking Algorithm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Categorization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/ Backend Module.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Skeleton Loader Module (UX Enhancement).</a:t>
            </a:r>
          </a:p>
        </p:txBody>
      </p:sp>
    </p:spTree>
    <p:extLst>
      <p:ext uri="{BB962C8B-B14F-4D97-AF65-F5344CB8AC3E}">
        <p14:creationId xmlns:p14="http://schemas.microsoft.com/office/powerpoint/2010/main" val="3699111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4630B-30B7-E4BD-F41A-CDB1853D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B224-8EE7-562F-C318-117A7BEA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D6B317-01C8-FBE7-713B-5141CC163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93175"/>
            <a:ext cx="10966245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Manages login, registration, and search interface; built using HTML, CSS, and JavaScript.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&amp; Control Module: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user queries and directs them to the respective API.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 Module: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Connects to YouTube, GitHub, arXiv, and Kaggle to fetch relevant resources.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Ranking Algorithm Module: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Sorts and displays results based on relevance, popularity, and recency.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Categorization Module: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Groups fetched data into Videos, Code, Research Papers, and Datasets.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579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61AA-A675-899B-07E4-7873ACA7F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0657-F194-DF3D-7932-DA5E160E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0EC46-D534-10A2-3E8E-9BBE1ACB1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25932"/>
            <a:ext cx="10668000" cy="4953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Module: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Uses PHP + MySQL to store users, search history, feedback, and recommendations.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Module: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Suggests related resources using stored search history.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Module: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Collects user opinions to improve platform performance.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/ Backend Module: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administrators to view and manage data through XAMPP/phpMyAdmin.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Skeleton Loader Module: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Improves user experience by showing animated placeholders while results load.</a:t>
            </a:r>
          </a:p>
        </p:txBody>
      </p:sp>
    </p:spTree>
    <p:extLst>
      <p:ext uri="{BB962C8B-B14F-4D97-AF65-F5344CB8AC3E}">
        <p14:creationId xmlns:p14="http://schemas.microsoft.com/office/powerpoint/2010/main" val="1848372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D14A-8839-EE20-13B8-A5418595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8867-7531-4451-88B7-288878B62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62FC7A-4D94-08D8-A6B5-9A087D48F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48" y="1832292"/>
            <a:ext cx="9222658" cy="40572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3528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7636-13D5-B167-6597-760FD4E1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F3DC-57A1-25DB-229A-C0A9D3C38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8BF87-FF49-CB16-152D-0598EE089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0EEBD-DF07-DBE2-1FB0-F6CC9E157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385" y="1026243"/>
            <a:ext cx="4881966" cy="540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70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426CB-9648-B9BA-0BB0-A68AB7A3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818D-B579-133A-A9F5-537605D76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4BBD9-FD33-4743-C071-F0E9C347B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7233CD-2F82-560C-F740-9015ED9B1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107" y="1143001"/>
            <a:ext cx="3581400" cy="4841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9629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BA92-D18F-C866-3354-E6601EC4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E0C9-25BC-6B86-FAD1-5ABE46623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84470"/>
            <a:ext cx="10668000" cy="4875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38B32-A7FC-AEA5-B805-25EDCDC96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52833"/>
            <a:ext cx="10668000" cy="4953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with their ranks(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python(videos))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92A88-F89C-4B50-172A-E4CCE1E6A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677" y="2074534"/>
            <a:ext cx="9301317" cy="39231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7594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C17B-F78C-36A6-3EAF-28770E18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D550C-43A3-70DF-CBB3-25EEAC6F9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with their ranks(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python(code))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C6E559-540A-47BE-A11F-312524635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52" y="2047557"/>
            <a:ext cx="9320980" cy="38419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3863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8C7D-0286-165A-BD4F-B7911DB2A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31C7D-1BCF-F16A-A4EA-BCA5336CD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with their ranks(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python(Research Papers))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A1BB3-C505-9A14-1905-BB17724E5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355" y="2074545"/>
            <a:ext cx="8809703" cy="38248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6172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719B-159B-4C96-9F10-3841EAEC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F2269-F213-A575-4EF5-AFBAA3FFE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with their ranks(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python(Datasets))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28FDA-E893-DE31-12D0-4D46132DA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845" y="2086927"/>
            <a:ext cx="8917857" cy="3704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3083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A30CD-24BF-9031-37C8-C5FCBFEC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394B-4D11-E2D3-9367-0791DC25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BDBE2-4EA0-BD29-628D-65DC4C54F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based on search history(Videos &amp; Code)</a:t>
            </a:r>
          </a:p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C26EC-9B77-AF12-8787-C85BC8C6C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566" y="1787432"/>
            <a:ext cx="8347537" cy="3927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3095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CD0A-4BA5-1914-8261-9E1BE042F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BC1C-06EF-21EB-78BC-8E77CB25E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ACDAF-2EAE-B709-4F85-CAD0CEF66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based on search history (Datasets &amp; Papers)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63AA8-1268-61CE-7FC3-5819BAFBA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47" y="1737994"/>
            <a:ext cx="9085007" cy="4053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2089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F2E77-1033-7533-1D24-5574A314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4C90-1115-E6D2-4E0C-72C5B032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3BF31-4627-62AC-A93D-8672B2A66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750F7-4A6F-6E19-AFF1-98D75BE77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809" y="1916113"/>
            <a:ext cx="8597778" cy="38947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4841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515EE-4968-5F9D-9D45-447FDD632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B85E-77D9-0950-614A-634BC635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B96EA-F548-5478-DD5B-5D2A38CF8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Submission Message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5A78B7-6658-CAE4-E668-0C4E470B9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89" y="1932868"/>
            <a:ext cx="7718323" cy="22458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7699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6C1-0259-467D-7277-A07D613D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AF4E7-E73E-C023-CE86-1FA67E059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Skeleton Loader Module for user engagement.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1D6F0-7644-8EF9-B54A-AACD7B84D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342" y="2124392"/>
            <a:ext cx="8544232" cy="35906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33006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6C90-59D0-E94F-9757-6CEC0705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18243-B84D-F8E2-C582-70425127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F5170-D79C-D6AA-E443-D7AC7C5C5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Backend-List of Tables(Admin View)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F86AF-A213-0C76-9899-336069C91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20" y="1871662"/>
            <a:ext cx="5024284" cy="384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93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3E8FF-7FFC-61E2-24BC-C6EABE4E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51F82-1FDC-8E52-EA1D-91CB6149E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F7F6E-5009-DCA5-F28B-42E139E29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Backend-User Details(Admin View)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3A70C-D2C3-0752-0C6A-5887C69A9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00" y="1718403"/>
            <a:ext cx="7441335" cy="437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669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EF7B-D65D-0E74-ED9B-C815FB16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4B04-2520-38DD-2541-2DDFAC449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A8BE1-CC64-364B-51C0-3ADA79D8D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 User Feedbacks(Admin View)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25726-775A-4084-2D7E-674113240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61" y="1838326"/>
            <a:ext cx="10746658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606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3ED5-F6AD-AFF7-F24D-996AE95A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9B5F2-EDE0-587B-77BA-87BF9994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EC733-1D3E-5A44-F5E0-7FA0FC44D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Backend- Search History(Admin View).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CF30F-24F3-8A08-6271-264639B77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34" y="1632154"/>
            <a:ext cx="10429766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165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1E7A-CDE4-DDC5-9B8A-17AB7736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6071D-8ACD-EF55-9BE8-074F150EB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Integration:</a:t>
            </a:r>
            <a:b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payment option will be added to enable users to upgrade to a premium version. Premium users can browse without interruptions or limits and access higher-quality and exclusive educational content.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Ranking System:</a:t>
            </a:r>
            <a:b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current system displays the top 25 ranked results. In the future, this will be expanded to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ranked results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category to provide users with a wider range of high-quality learning materials.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9714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C54E-80CF-C6FD-889E-CAEE43092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0879D3-1672-92AA-3B37-D48096DB1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58985"/>
            <a:ext cx="1075976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Search Engine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integrates multiple educational platforms like YouTube, GitHub,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Kaggle into a single unified system.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collection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ensuring an interactive learning experience.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integration using PHP, XAMPP, and MySQL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enables secure data storage and efficient system management.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currently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complete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all major modules functional and tested.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updates will include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integration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ranking up to 50 results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further enhance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3927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982F312-742A-64AA-BCC7-6F151803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3DA101-EA61-6127-710A-677EB9FCD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 of the Project (Gantt Chart)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80029-8F23-DDEC-5C07-2C5CC578A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6" y="1086465"/>
            <a:ext cx="11690555" cy="49505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860560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6C0D6-6CBE-0BC1-42DA-F486D65C7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4259" y="1710511"/>
            <a:ext cx="11088562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Usha Yadav and Neelam Duhan,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Efficient Retrieval of Data Using Semantic Search Engine Based on NLP and RDF”,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proc. VOLUME 6,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 October 2021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https://ieeexplore.ieee.org/document/10246838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Daniel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Muepu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Yutaka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Watanobe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Code to Ratings – Enhancing Collaborative Filtering in OJ Systems”,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proc.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7, 2019,31 December 2024.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https://ieeexplore.ieee.org/document/10813164 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Diomidis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Spinellis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Panagiotis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Louridas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George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Gousios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Ioannis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Chatzigiannakis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Research Literature to Generate Datasets of Implicit Feedback (LIBRETTI)”,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proc.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7, 2019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,December 23, 2019.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https://ieeexplore.ieee.org/document/8924687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1CF9-CE6B-09C9-4B30-4FE77B49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C7AFE-F917-599B-47E4-85261567B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1379200" cy="49530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Renjie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Zhou,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Dongchen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Xia, Jian Wan, Sanyuan Zhang,”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Intelligent Video Tag Recommendation Method for Improving Video Popularity in Mobile”,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proc.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8, 2020, January 14, 2020.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</a:p>
          <a:p>
            <a:pPr lvl="1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https://ieeexplore.ieee.org/document/8938802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PAOLA INGAVÉLEZ-GUERRA , VLADIMIR E. ROBLES-BYKBAEV 1 , ANGEL PÉREZ-MUÑOZ ,JOSÉ HILERA-GONZÁLEZ  , AND SALVADOR OTÓN-TORTOSA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Adaptation of Open Educational Resources: An Approach From a Multilevel Methodology Based on Students’ Preferences, Educational Special Needs, Artificial Intelligence and Accessibility Metadata”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proc. VOLUME 10, 2022, January 27, 2022.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https://ieeexplore.ieee.org/document/9669174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M. EL-GAYAR , N. E. MEKKY1, A. ATWAN2 , AND H. SOLIMAN,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“Enhanced Search Engine Using Proposed Framework and Ranking Algorithm Based on Semantic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Relations”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7, 2019, October 7, 2019.</a:t>
            </a:r>
          </a:p>
          <a:p>
            <a:pPr lvl="1"/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https://ieeexplore.ieee.org/document/8840848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7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0C08-1FCD-3376-C15D-3580113A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55CE5-C6B9-C1F2-00DA-D65A3E113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CARLA LIMONGELLI  , MATTEO LOMBARDI  , ALESSANDRO MARANI, AND DAVIDE TAIBI,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Semantic Approach to Ranking Techniques: Improving Web Page Searches for Educational Purposes 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proc. VOLUME 10, 2022, 27 June 2022.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https://ieeexplore.ieee.org/document/9807311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B. KILLORAN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Search Engine Optimization Techniques to Increase Website Visibility”,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proc.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56, 1, MARCH 2013.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https://ieeexplore.ieee.org/document/6463486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ICHRAK SAIF, ABDELAZIZ SDIGUI DOUKKALI, ADIL ENAANAI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GENAUM: NEW SEMANTIC DISTRIBUTED SEARCH ENGINE “,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Multimedia, Vol. 12, No.3&amp;4 (2017) 210-221.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https://ieeexplore.ieee.org/document/11079888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KAILASH A. HAMBARDE AND HUGO PROENÇA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Retrieval: Recent Advances and Beyond”,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11, 2023, 14 July 2023.</a:t>
            </a:r>
          </a:p>
          <a:p>
            <a:pPr lvl="1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https://ieeexplore.ieee.org/document/10184013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111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7620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altLang="en-US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https://github.com/Nithin3003/ISE_11-Capstone-Project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30924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</TotalTime>
  <Words>3165</Words>
  <Application>Microsoft Office PowerPoint</Application>
  <PresentationFormat>Widescreen</PresentationFormat>
  <Paragraphs>399</Paragraphs>
  <Slides>48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Cambria</vt:lpstr>
      <vt:lpstr>Times New Roman</vt:lpstr>
      <vt:lpstr>Verdana</vt:lpstr>
      <vt:lpstr>Wingdings</vt:lpstr>
      <vt:lpstr>Bioinformatics</vt:lpstr>
      <vt:lpstr>Student Innovation</vt:lpstr>
      <vt:lpstr>Content</vt:lpstr>
      <vt:lpstr>Abstract:</vt:lpstr>
      <vt:lpstr>Introduction</vt:lpstr>
      <vt:lpstr>Introduction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Problem Definition</vt:lpstr>
      <vt:lpstr>Objectives:</vt:lpstr>
      <vt:lpstr>Existing Methods and Drawbacks</vt:lpstr>
      <vt:lpstr>Sustainable Development Goal (SDG) Mapping</vt:lpstr>
      <vt:lpstr>Block Diagram</vt:lpstr>
      <vt:lpstr>Methodology</vt:lpstr>
      <vt:lpstr>Modules</vt:lpstr>
      <vt:lpstr>Modules</vt:lpstr>
      <vt:lpstr>Modules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Future Enhancements</vt:lpstr>
      <vt:lpstr>Conclusion</vt:lpstr>
      <vt:lpstr>Timeline of the Project (Gantt Chart)</vt:lpstr>
      <vt:lpstr>References (IEEE Paper format)</vt:lpstr>
      <vt:lpstr>References (IEEE Paper format)</vt:lpstr>
      <vt:lpstr>References (IEEE Paper format)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ADITYA VS</cp:lastModifiedBy>
  <cp:revision>88</cp:revision>
  <dcterms:created xsi:type="dcterms:W3CDTF">2025-08-13T05:26:29Z</dcterms:created>
  <dcterms:modified xsi:type="dcterms:W3CDTF">2025-12-03T06:50:33Z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59021E74CBF64697B0BDE6130A6B724D_12</vt:lpwstr>
  </property>
  <property fmtid="{D5CDD505-2E9C-101B-9397-08002B2CF9AE}" pid="3" name="KSOProductBuildVer">
    <vt:lpwstr>1033-12.2.0.21931</vt:lpwstr>
  </property>
</Properties>
</file>