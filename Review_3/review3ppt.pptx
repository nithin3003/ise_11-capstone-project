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91" r:id="rId4"/>
    <p:sldId id="305" r:id="rId5"/>
    <p:sldId id="306" r:id="rId6"/>
    <p:sldId id="277" r:id="rId7"/>
    <p:sldId id="282" r:id="rId8"/>
    <p:sldId id="283" r:id="rId9"/>
    <p:sldId id="286" r:id="rId10"/>
    <p:sldId id="298" r:id="rId11"/>
    <p:sldId id="285" r:id="rId12"/>
    <p:sldId id="297" r:id="rId13"/>
    <p:sldId id="288" r:id="rId14"/>
    <p:sldId id="289" r:id="rId15"/>
    <p:sldId id="290" r:id="rId16"/>
    <p:sldId id="307" r:id="rId17"/>
    <p:sldId id="275" r:id="rId18"/>
    <p:sldId id="292" r:id="rId19"/>
    <p:sldId id="294" r:id="rId20"/>
    <p:sldId id="308" r:id="rId21"/>
    <p:sldId id="295" r:id="rId22"/>
    <p:sldId id="299" r:id="rId23"/>
    <p:sldId id="317" r:id="rId24"/>
    <p:sldId id="309" r:id="rId25"/>
    <p:sldId id="311" r:id="rId26"/>
    <p:sldId id="312" r:id="rId27"/>
    <p:sldId id="315" r:id="rId28"/>
    <p:sldId id="310" r:id="rId29"/>
    <p:sldId id="265" r:id="rId30"/>
    <p:sldId id="303" r:id="rId31"/>
    <p:sldId id="304" r:id="rId32"/>
    <p:sldId id="268" r:id="rId33"/>
    <p:sldId id="300" r:id="rId34"/>
    <p:sldId id="266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8CDAB-5470-42AF-9017-BDD4579379BC}" v="63" dt="2025-09-04T05:55:37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6F4BD6B-52E1-5B2C-9F6A-73CE9F90C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700AAEF-CC0C-8956-5272-4E20C35C1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FD8CF63-68A4-3576-C783-AB823383B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84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24683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24687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669174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8840848" TargetMode="External"/><Relationship Id="rId2" Type="http://schemas.openxmlformats.org/officeDocument/2006/relationships/hyperlink" Target="https://ieeexplore.ieee.org/stamp/stamp.jsp?tp=&amp;arnumber=1081316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646348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107988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18401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4683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8924687" TargetMode="External"/><Relationship Id="rId4" Type="http://schemas.openxmlformats.org/officeDocument/2006/relationships/hyperlink" Target="https://ieeexplore.ieee.org/stamp/stamp.jsp?tp=&amp;arnumber=10813164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9669174" TargetMode="External"/><Relationship Id="rId2" Type="http://schemas.openxmlformats.org/officeDocument/2006/relationships/hyperlink" Target="https://ieeexplore.ieee.org/document/893880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8840848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463486" TargetMode="External"/><Relationship Id="rId2" Type="http://schemas.openxmlformats.org/officeDocument/2006/relationships/hyperlink" Target="https://ieeexplore.ieee.org/document/980731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document/10184013" TargetMode="External"/><Relationship Id="rId4" Type="http://schemas.openxmlformats.org/officeDocument/2006/relationships/hyperlink" Target="https://ieeexplore.ieee.org/document/11079888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41308" y="683641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6" y="2045352"/>
            <a:ext cx="462825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 ISE_11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385623" y="241872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GB" sz="20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Under the Supervision of,</a:t>
            </a:r>
            <a:endParaRPr lang="en-GB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John Bennet J</a:t>
            </a: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Assistant Professor</a:t>
            </a:r>
            <a:endParaRPr lang="en-IN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School of Computer Science and Engineering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Presidency University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124584367"/>
              </p:ext>
            </p:extLst>
          </p:nvPr>
        </p:nvGraphicFramePr>
        <p:xfrm>
          <a:off x="208546" y="2597653"/>
          <a:ext cx="7042485" cy="4154263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4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5413">
                <a:tc>
                  <a:txBody>
                    <a:bodyPr/>
                    <a:lstStyle/>
                    <a:p>
                      <a:pPr marL="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20221ISE0066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20221ISE0032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IN" sz="1800" b="1" u="none" strike="noStrike" cap="none" dirty="0"/>
                        <a:t>20221ISE0062</a:t>
                      </a: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Nithin M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Aditya V 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GB" sz="1800" b="1" u="none" strike="noStrike" cap="none" dirty="0">
                          <a:solidFill>
                            <a:schemeClr val="tx1"/>
                          </a:solidFill>
                        </a:rPr>
                        <a:t>Chiranthan T C Nadig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38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4660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Capstone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Review-</a:t>
            </a: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3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208546" y="4812022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Program: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Information</a:t>
            </a:r>
            <a:r>
              <a:rPr lang="en-IN" alt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Science and Engineering</a:t>
            </a:r>
            <a:endParaRPr lang="en-US"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Dr. Zafar Ali Khan N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Ms .Suma N 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Dr. Sampath A K , Dr. Geetha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Arjunan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 panose="020B0604030504040204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1264B-EC28-8A51-838F-A41AD50ADF1C}"/>
              </a:ext>
            </a:extLst>
          </p:cNvPr>
          <p:cNvSpPr txBox="1"/>
          <p:nvPr/>
        </p:nvSpPr>
        <p:spPr>
          <a:xfrm>
            <a:off x="2576052" y="1337266"/>
            <a:ext cx="72555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Smart Education, a concept that describes learning in digital age. 	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enables learner to learn more effectively ,efficiently ,flexibly and comfortably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6563" y="1102592"/>
            <a:ext cx="10668000" cy="509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and Drawbacks</a:t>
            </a:r>
            <a:r>
              <a:rPr lang="en-IN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A0B06-059B-6285-13FF-61C7F5C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BC4D1A-D2D3-9B0F-4D67-0A8DCB40A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9585" y="979674"/>
            <a:ext cx="1201006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study searching provides a single platform to access videos, code repositories, research papers, and datasets.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aims to simplify access to educational resources by combining multiple trusted sources.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research focused on semantic methods, recommendation systems, and adaptive learning.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most existing approaches were domain-specific, lacked scalability, and did not support cross-platform integration.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bridges these gaps by delivering a unified, learner-centric, and multi-source search experience.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51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06FD-C747-D43E-C572-865C17733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Introduction(Context &amp; Motivation)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21BA1-8A01-B43E-D503-AA6C78FFE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online educational resources has led to abundant content across multiple platforms.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platforms include: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- video tutorials.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- code repositories.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research papers.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- datasets.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resources are fragmented and require users to manually search on each platform.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challenges in time, efficiency, and relevance for learners and researchers.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32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155F-08D9-455A-2B6D-9BCDC5C1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Introduction(Need &amp; Scope)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1AFAF-2942-79C2-4F03-AD0B113AD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search system can bring together videos, code, papers, and datasets in one place.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applying a ranking algorithm, the most relevant and popular resources can be displayed first.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system helps: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→ find tutorials and projects quickly.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→ access latest papers and datasets.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→ discover useful code repositories.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lays the foundation for an integrated, ranked, and user-friendly search engine for learning resources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64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F63B25-929E-6330-E1DD-8565E6101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453963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786884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178407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NLP + RDF triples boost semantic retrieval efficiency.</a:t>
                      </a:r>
                    </a:p>
                    <a:p>
                      <a:pPr lvl="3" algn="l"/>
                      <a:endParaRPr lang="en-US" sz="1600" dirty="0">
                        <a:latin typeface="Arial Rounded MT Bold" panose="020F0704030504030204" pitchFamily="34" charset="0"/>
                      </a:endParaRPr>
                    </a:p>
                    <a:p>
                      <a:pPr lvl="3" algn="l"/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RDF links heterogeneous data effectively.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 NLP entity extraction.</a:t>
                      </a:r>
                    </a:p>
                    <a:p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RDF triple storage &amp; SPARQL queries.</a:t>
                      </a:r>
                    </a:p>
                    <a:p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Semantic IR pipeline: NLP → RDF → retrieval.</a:t>
                      </a:r>
                    </a:p>
                    <a:p>
                      <a:r>
                        <a:rPr lang="en-IN" sz="1600" dirty="0"/>
                        <a:t> </a:t>
                      </a:r>
                    </a:p>
                    <a:p>
                      <a:r>
                        <a:rPr lang="en-IN" sz="1600" dirty="0"/>
                        <a:t>RDF knowledge graph structure.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Focused on engineering domain.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Lacks personalization and categorization.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RDF-like ideas to structure multi-API metadata.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Apply to multi-source educational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96D990-F91B-9548-EE2D-622E5D2ECB0E}"/>
              </a:ext>
            </a:extLst>
          </p:cNvPr>
          <p:cNvSpPr txBox="1"/>
          <p:nvPr/>
        </p:nvSpPr>
        <p:spPr>
          <a:xfrm>
            <a:off x="265470" y="1291454"/>
            <a:ext cx="67350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Retrieval Using Semantic Search with NLP and RDF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https://ieeexplore.ieee.org/document/10246838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EF63-CE0D-69F5-EEB5-11606905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9EE67-3EC1-7A2A-70D6-E86E4D0E729A}"/>
              </a:ext>
            </a:extLst>
          </p:cNvPr>
          <p:cNvSpPr txBox="1"/>
          <p:nvPr/>
        </p:nvSpPr>
        <p:spPr>
          <a:xfrm>
            <a:off x="433136" y="1314874"/>
            <a:ext cx="11513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Code to Ratings: Converting Programming Data to Enhance Collaborative Filtering in Educational Online Judge Systems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https://ieeexplore.ieee.org/document/10813164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1D7CC0-A9F7-D55F-AB57-54D448A12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560093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8432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013364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891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Code logs converted to ratings for collaborative filtering.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Improves recommendation accuracy.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 analysis &amp; rating conversion.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Neural Collaborative Filtering (NCF)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Conversion pipeline: logs → ratings → NCF.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Implicit feedback-based recommender.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Domain-limited to coding platforms.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Doesn’t generalize to multi-source data.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gather programming and educational content.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Apply collaborative filtering combined with semantic ranking and user feedback for personalization.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10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525CF-90FF-A0C7-5A4B-10EF8239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7CF8C-EB74-22EF-1939-78E7F501DD99}"/>
              </a:ext>
            </a:extLst>
          </p:cNvPr>
          <p:cNvSpPr txBox="1"/>
          <p:nvPr/>
        </p:nvSpPr>
        <p:spPr>
          <a:xfrm>
            <a:off x="304800" y="1261230"/>
            <a:ext cx="113257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Research Literature to Generate Datasets of Implicit Feedback for Recommending Scientific Items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://ieeexplore.ieee.org/document/8924687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96C74F-D0DD-113E-2660-BF6B7BB29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934421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71813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893478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Implicit feedback (authorship, citations) forms datasets.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 Useful when explicit ratings are missing.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Literature mining &amp; entity mapping.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Utility matrix generation from implicit signals.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 Rounded MT Bold" panose="020F0704030504030204" pitchFamily="34" charset="0"/>
                        </a:rPr>
                        <a:t> </a:t>
                      </a:r>
                      <a:r>
                        <a:rPr lang="en-IN" sz="1600" dirty="0"/>
                        <a:t>LIBRETTI workflow: entity → mapping → dataset.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Implicit rating-based recommender.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to scientific literature.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No coverage for code, videos, or datasets.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collect interactions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 Generate implicit feedback-based recommendations across videos, datasets, and code, integrating them into the search engine.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56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E14F4-B574-8859-9A7A-4F8CBADF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4D86D-44DE-328A-F308-DAB50B395C55}"/>
              </a:ext>
            </a:extLst>
          </p:cNvPr>
          <p:cNvSpPr txBox="1"/>
          <p:nvPr/>
        </p:nvSpPr>
        <p:spPr>
          <a:xfrm>
            <a:off x="377248" y="917853"/>
            <a:ext cx="115930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Video Tag Recommendation Method for Improving Video Popularity in Mobile Computing Environment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://ieeexplore.ieee.org/document/8938802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F05B79-8033-3F6E-CA0E-A3E8D7597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979995"/>
              </p:ext>
            </p:extLst>
          </p:nvPr>
        </p:nvGraphicFramePr>
        <p:xfrm>
          <a:off x="377248" y="1904565"/>
          <a:ext cx="11379201" cy="3839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668195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239938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524985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670243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85060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989278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Intelligent tagging improves video discoverability and engagement.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Helps recommend relevant content to users in mobile environments.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Analyze video content and metadata to generate tags.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Use machine learning for tag prediction and relevance scoring.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 Video tag recommendation pipeline: Video → Feature extraction → Tag prediction → Recommendation.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Popularity-aware ranking for recommended videos.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Focused only on video platforms.</a:t>
                      </a:r>
                    </a:p>
                    <a:p>
                      <a:pPr marL="0" indent="0">
                        <a:buNone/>
                      </a:pP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Not integrated with multi-source educational resources.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fetch educational videos.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Apply ML-based tagging and semantic ranking to improve discoverability and relevance in the search engine.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505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48DF-C712-0AA9-F8AE-F4392219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DE1A61-DCBD-541C-9485-D6DCDBE47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43206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marL="0" lvl="3" indent="0" algn="l">
                        <a:buNone/>
                      </a:pPr>
                      <a:r>
                        <a:rPr lang="en-US" sz="1600" dirty="0"/>
                        <a:t>Adaptive OERs personalize content using student preferences &amp; accessibility. </a:t>
                      </a:r>
                    </a:p>
                    <a:p>
                      <a:pPr marL="0" lvl="3" indent="0" algn="l">
                        <a:buNone/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AI-driven adaptation improves inclusivity.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User profiling &amp; preference-based adaptation.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AI/ML-driven multilevel content delivery.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/>
                        <a:t>Profile → Matching → Resource delivery pipeline.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Multilevel adaptation framework.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Limited to OER only.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Small-scale evaluation; lacks cross-platform integration.</a:t>
                      </a:r>
                    </a:p>
                    <a:p>
                      <a:pPr marL="0" indent="0">
                        <a:buNone/>
                      </a:pP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Extend personalization to multi-source educational search.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Include videos, datasets, code,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AD916D-A4EC-2A6E-CD3F-D4BBB825C487}"/>
              </a:ext>
            </a:extLst>
          </p:cNvPr>
          <p:cNvSpPr txBox="1"/>
          <p:nvPr/>
        </p:nvSpPr>
        <p:spPr>
          <a:xfrm>
            <a:off x="167148" y="1018644"/>
            <a:ext cx="114540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Adaptation of Open Educational Resources: An Approach From a Multilevel Methodology Based on Students’ Preferences, Educational Special Needs, Artificial Intelligence and Accessibility Metadata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://ieeexplore.ieee.org/document/9669174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6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E743-014F-C2D7-3F40-B05B4C95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8B012-641E-FAF5-8EBE-50C6EE5519C1}"/>
              </a:ext>
            </a:extLst>
          </p:cNvPr>
          <p:cNvSpPr txBox="1"/>
          <p:nvPr/>
        </p:nvSpPr>
        <p:spPr>
          <a:xfrm>
            <a:off x="336884" y="1261230"/>
            <a:ext cx="11566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Search Engine Using Proposed Framework and Ranking Algorithm Based on Semantic Relations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https://ieeexplore.ieee.org/document/8840848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87FCC5-522B-8718-1A16-826BA8AD1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148311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4064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92465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Semantic relations improve ranking, precision &amp; recall.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Outperforms keyword-based search engines.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Semantic query expansion using ontologies.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Custom semantic ranking algorithms.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Expansion + relation extraction → re-ranking.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Semantic ranking framework.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Evaluated on small datasets only.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Doesn’t categorize by resource type.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Apply semantic ranking to multi-source API integration.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Categorize results by videos, code, datasets,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0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01E3-BFCD-8327-9FFC-EC72C475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40FB7A-0049-B6A1-C095-3441E24F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195284"/>
              </p:ext>
            </p:extLst>
          </p:nvPr>
        </p:nvGraphicFramePr>
        <p:xfrm>
          <a:off x="167148" y="2352368"/>
          <a:ext cx="11857704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Semantic ranking improves relevance of educational web searches.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Better matches learner intent compared to traditional keyword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Ontology mapping for concept understanding.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Semantic similarity scoring and re-ranking of search results.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Semantic re-ranking model for educational content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600" dirty="0"/>
                        <a:t>Education-specific semantic ontology to guide ranking.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Works mainly for educational websites.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Lacks support for multi-source content like videos, datasets, or code.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Generalize semantic ranking to multiple educational sources.</a:t>
                      </a:r>
                    </a:p>
                    <a:p>
                      <a:pPr marL="0" indent="0">
                        <a:buNone/>
                      </a:pPr>
                      <a:endParaRPr lang="en-US" sz="1600" dirty="0"/>
                    </a:p>
                    <a:p>
                      <a:pPr marL="0" indent="0">
                        <a:buNone/>
                      </a:pPr>
                      <a:r>
                        <a:rPr lang="en-US" sz="1600" dirty="0"/>
                        <a:t> Implement API-driven integration for videos, code, datasets, and papers.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BF2951-B1BF-553B-F2DC-3B4B73F307A7}"/>
              </a:ext>
            </a:extLst>
          </p:cNvPr>
          <p:cNvSpPr txBox="1"/>
          <p:nvPr/>
        </p:nvSpPr>
        <p:spPr>
          <a:xfrm>
            <a:off x="167147" y="1054752"/>
            <a:ext cx="11543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Semantic Approach to Ranking Techniques: Improving Web Page Searches for Educational Purposes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://ieeexplore.ieee.org/document/9807311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282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4FBD-4953-6401-CD91-7A59BC01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9A50F-93E0-F873-B527-2CF19FF96981}"/>
              </a:ext>
            </a:extLst>
          </p:cNvPr>
          <p:cNvSpPr txBox="1"/>
          <p:nvPr/>
        </p:nvSpPr>
        <p:spPr>
          <a:xfrm>
            <a:off x="167146" y="1054752"/>
            <a:ext cx="11313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Search Engine Optimization Techniques to Increase Website Visibility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://ieeexplore.ieee.org/document/6463486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9AA7B0-8C1A-4199-D148-A336AB539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225034"/>
              </p:ext>
            </p:extLst>
          </p:nvPr>
        </p:nvGraphicFramePr>
        <p:xfrm>
          <a:off x="167146" y="1639527"/>
          <a:ext cx="12024853" cy="4312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497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2484322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2038732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2275077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821752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948941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3363153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SEO improves website visibility on search engines.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 Increases organic traffic and engagement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On-page optimization: keywords, meta tags, internal links.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Off-page optimization: backlinks, social promotion; Technical SEO &amp; content strategy.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SEO workflow: Keyword research → On-page + Off-page → Technical setup → Content publishing → Monitoring. </a:t>
                      </a:r>
                    </a:p>
                    <a:p>
                      <a:br>
                        <a:rPr lang="en-IN" sz="1600" dirty="0"/>
                      </a:br>
                      <a:r>
                        <a:rPr lang="en-IN" sz="1600" dirty="0"/>
                        <a:t>Iterative optimization loop based on analytics feedback.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to organic search; no multi-platform coverage.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Effectiveness varies with competition and algorithm changes.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 multi-source APIs (YouTube, GitHub, Kaggle, </a:t>
                      </a:r>
                      <a:r>
                        <a:rPr lang="en-US" sz="1600" dirty="0" err="1"/>
                        <a:t>arXiv</a:t>
                      </a:r>
                      <a:r>
                        <a:rPr lang="en-US" sz="1600" dirty="0"/>
                        <a:t>) to fetch educational content.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Apply semantic ranking, categorization, and feedback-based personalization.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473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6D11-417D-B1EE-945E-2269EB0F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438CA-D2EB-D5FB-C250-04ABBC53E228}"/>
              </a:ext>
            </a:extLst>
          </p:cNvPr>
          <p:cNvSpPr txBox="1"/>
          <p:nvPr/>
        </p:nvSpPr>
        <p:spPr>
          <a:xfrm>
            <a:off x="309458" y="996832"/>
            <a:ext cx="10101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GENAUM: NEW SEMANTIC DISTRIBUTED SEARCH ENGINE</a:t>
            </a:r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://ieeexplore.ieee.org/document/11079888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F396C39-09B8-FC27-F097-A66C289B9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932810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Distributed semantic search improves scalability.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Agent-based systems provide faster responses.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Multi-agent search architecture.</a:t>
                      </a:r>
                    </a:p>
                    <a:p>
                      <a:r>
                        <a:rPr lang="en-US" sz="1600" dirty="0"/>
                        <a:t>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Ontology-driven semantic indexing.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 Agent-based distributed engine.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 Decentralized semantic search nodes.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Prototype-level; small-scale testing.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Not applied to education or multi-source APIs.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Extend distributed architecture for multi-source APIs.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Improve response time and scalability.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184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1678-7FD2-63BC-6DEC-A49617EF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1B8D2-B524-CE92-3450-F891450E1C66}"/>
              </a:ext>
            </a:extLst>
          </p:cNvPr>
          <p:cNvSpPr txBox="1"/>
          <p:nvPr/>
        </p:nvSpPr>
        <p:spPr>
          <a:xfrm>
            <a:off x="336884" y="1200314"/>
            <a:ext cx="10940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Retrieval: Recent Advances and Beyond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://ieeexplore.ieee.org/document/10184013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BD1CEB-C321-DC21-F077-CEB79E268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03260"/>
              </p:ext>
            </p:extLst>
          </p:nvPr>
        </p:nvGraphicFramePr>
        <p:xfrm>
          <a:off x="167148" y="2352368"/>
          <a:ext cx="11857704" cy="276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540">
                  <a:extLst>
                    <a:ext uri="{9D8B030D-6E8A-4147-A177-3AD203B41FA5}">
                      <a16:colId xmlns:a16="http://schemas.microsoft.com/office/drawing/2014/main" val="3165973817"/>
                    </a:ext>
                  </a:extLst>
                </a:gridCol>
                <a:gridCol w="1738344">
                  <a:extLst>
                    <a:ext uri="{9D8B030D-6E8A-4147-A177-3AD203B41FA5}">
                      <a16:colId xmlns:a16="http://schemas.microsoft.com/office/drawing/2014/main" val="2403105579"/>
                    </a:ext>
                  </a:extLst>
                </a:gridCol>
                <a:gridCol w="1610421">
                  <a:extLst>
                    <a:ext uri="{9D8B030D-6E8A-4147-A177-3AD203B41FA5}">
                      <a16:colId xmlns:a16="http://schemas.microsoft.com/office/drawing/2014/main" val="714689897"/>
                    </a:ext>
                  </a:extLst>
                </a:gridCol>
                <a:gridCol w="3354870">
                  <a:extLst>
                    <a:ext uri="{9D8B030D-6E8A-4147-A177-3AD203B41FA5}">
                      <a16:colId xmlns:a16="http://schemas.microsoft.com/office/drawing/2014/main" val="2247518842"/>
                    </a:ext>
                  </a:extLst>
                </a:gridCol>
                <a:gridCol w="2782529">
                  <a:extLst>
                    <a:ext uri="{9D8B030D-6E8A-4147-A177-3AD203B41FA5}">
                      <a16:colId xmlns:a16="http://schemas.microsoft.com/office/drawing/2014/main" val="2844548441"/>
                    </a:ext>
                  </a:extLst>
                </a:gridCol>
              </a:tblGrid>
              <a:tr h="313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Existing Work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Research Gap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</a:rPr>
                        <a:t>Proposed 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849079"/>
                  </a:ext>
                </a:extLst>
              </a:tr>
              <a:tr h="2309105">
                <a:tc>
                  <a:txBody>
                    <a:bodyPr/>
                    <a:lstStyle/>
                    <a:p>
                      <a:pPr lvl="3" algn="l"/>
                      <a:r>
                        <a:rPr lang="en-US" sz="1600" dirty="0"/>
                        <a:t>Two-stage retrieval (fetch + re-ranking) widely used. </a:t>
                      </a:r>
                    </a:p>
                    <a:p>
                      <a:pPr lvl="3" algn="l"/>
                      <a:br>
                        <a:rPr lang="en-US" sz="1600" dirty="0"/>
                      </a:br>
                      <a:r>
                        <a:rPr lang="en-US" sz="1600" dirty="0"/>
                        <a:t>Neural ranking improves precision &amp; recall.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Lexical search methods (BM25, TF-IDF).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 Semantic/neural re-ranking.</a:t>
                      </a:r>
                      <a:r>
                        <a:rPr lang="en-US" sz="1600" dirty="0">
                          <a:latin typeface="Arial Rounded MT Bold" panose="020F0704030504030204" pitchFamily="34" charset="0"/>
                        </a:rPr>
                        <a:t>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Two-stage IR pipeline. </a:t>
                      </a:r>
                    </a:p>
                    <a:p>
                      <a:endParaRPr lang="en-US" sz="1600" dirty="0"/>
                    </a:p>
                    <a:p>
                      <a:r>
                        <a:rPr lang="en-US" sz="1600" dirty="0"/>
                        <a:t>Combination of lexical + neural methods.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Broad survey; no focus on education. </a:t>
                      </a:r>
                      <a:br>
                        <a:rPr lang="en-US" sz="1600" dirty="0"/>
                      </a:br>
                      <a:endParaRPr lang="en-US" sz="1600" dirty="0"/>
                    </a:p>
                    <a:p>
                      <a:r>
                        <a:rPr lang="en-US" sz="1600" dirty="0"/>
                        <a:t>Doesn’t handle multi-source or API integration.</a:t>
                      </a:r>
                      <a:endParaRPr lang="en-IN" sz="1600" b="1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Adopt modular fetch + semantic re-ranking. </a:t>
                      </a:r>
                    </a:p>
                    <a:p>
                      <a:br>
                        <a:rPr lang="en-US" sz="1600" dirty="0"/>
                      </a:br>
                      <a:r>
                        <a:rPr lang="en-US" sz="1600" dirty="0"/>
                        <a:t>Apply to educational multi-source API search.</a:t>
                      </a:r>
                      <a:endParaRPr lang="en-IN" sz="1600" dirty="0">
                        <a:latin typeface="Arial Rounded MT Bold" panose="020F07040305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4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518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549C7-C0B7-A5AB-BAFC-8EC39B10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8EDD1-BC63-523E-6BCA-65540A86C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researchers face difficulty in finding relevant learning resources because they are scattered across multiple platforms like YouTube, GitHub,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Kaggle.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search engines are either keyword-based or limited to a single source, leading to incomplete results.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system that retrieves and ranks results from multiple platforms in one place.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effective ranking mechanisms makes it harder for users to identify the most useful resources quickly.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B64941B-BE90-AEDF-E45A-0AD34E733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30340"/>
            <a:ext cx="113367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searching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educational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multiple platforms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YouTube, GitHub, and academic repositories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understands the intent behind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categorized results with their ranks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videos, research papers, datasets, and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and researchers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relevant resources efficiently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2E0B-470C-508E-6BA3-21D71349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F00E-2E7D-9987-5D79-F993C0BC5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engines rely mostly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provide search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sources only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only papers or only videos).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educational tools adapt content but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comprehensive 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capabilities.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results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platforms.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and intent of queries often ignored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keyword-based searches.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categorization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resources (videos, code, datasets, papers).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users to gather and filter relevant materials.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896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240B-831A-7BFD-2014-D3D9A7AC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050D9-86DE-91C7-F947-E76B14993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BFD1A-0D30-D6B9-F769-C83BB15E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143001"/>
            <a:ext cx="10668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89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19A7-DA10-8BA9-D0B2-731E496A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60742-A49F-ED5A-32A0-22E274C5C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Algorithm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(0.6 × Views) + (0.4 × Likes)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(0.7 × Stars) + (0.3 × Forks)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Papers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Recency = 1 /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CurrentYear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PublishedYear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Score = (0.5 × Downloads) + (0.5 × Usability × 1000)</a:t>
            </a:r>
          </a:p>
        </p:txBody>
      </p:sp>
    </p:spTree>
    <p:extLst>
      <p:ext uri="{BB962C8B-B14F-4D97-AF65-F5344CB8AC3E}">
        <p14:creationId xmlns:p14="http://schemas.microsoft.com/office/powerpoint/2010/main" val="2749965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2AD0-C587-4E51-C3F0-BD99BAA3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871A-5D3A-A8FA-749D-AD560EDCB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&amp; Control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 Modules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 Module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 Loader Module (UX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111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4630B-30B7-E4BD-F41A-CDB1853DD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B224-8EE7-562F-C318-117A7BEA3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8EBC6-28A1-DEB4-2D7F-07BCAA4B8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(Videos, Code, Papers, Datasets),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Styled with dark theme, responsive grid, animations, and skeleton loaders for better UX.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&amp; Control Module: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: search(type)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user query from the search bar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which API is triggered based on the tab selected.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 Modules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 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searchYouTube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(query)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Search Module 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(query)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Module 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searchPapers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(query)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Module 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searchKaggle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(query)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579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CE944-2A56-2AF1-72AA-2A9EEF93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193C-E226-5D27-0397-126B271B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54C41-A46A-E973-611F-AB8F90E89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creates result cards (&lt;div class="result-card"&gt;)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title, description/summary, thumbnails (for videos), and links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error handling (“No results found”, “Error fetching ...”).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Ranking Functions applied before displaying.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 Loader Module (UX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showSkeleton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:</a:t>
            </a:r>
          </a:p>
          <a:p>
            <a:pPr lvl="2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animated placeholder cards while API results are loading.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 by reducing “blank waiting time.”</a:t>
            </a:r>
          </a:p>
          <a:p>
            <a:pPr lvl="2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63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D14A-8839-EE20-13B8-A5418595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8867-7531-4451-88B7-288878B62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Web Page(Home Page)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C34FE-A089-9081-96E6-7B79121FF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89123"/>
            <a:ext cx="10337800" cy="410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28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BA92-D18F-C866-3354-E6601EC4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E0C9-25BC-6B86-FAD1-5ABE4662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38B32-A7FC-AEA5-B805-25EDCDC96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their ranks(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ml(videos))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59A10-34B3-6D92-A8E6-70D9F784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749716"/>
            <a:ext cx="10993582" cy="434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94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C17B-F78C-36A6-3EAF-28770E18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D550C-43A3-70DF-CBB3-25EEAC6F9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with their ranks(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ml(code))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9FA6F-B9FA-651F-10C2-90BE4B38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41557"/>
            <a:ext cx="10910455" cy="463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3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6C1-0259-467D-7277-A07D613D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AF4E7-E73E-C023-CE86-1FA67E059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Skeleton Loader Module for user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70D74-4B2A-7EAA-0189-84689ABD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828799"/>
            <a:ext cx="10668000" cy="426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00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1E7A-CDE4-DDC5-9B8A-17AB7736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6071D-8ACD-EF55-9BE8-074F150EB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Backend with PHP + XAMPP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frontend with a MySQL database.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data storage and retrieval.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(Login, Register)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authentication with login &amp; signup forms.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personalized profiles for each user.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 on Home Page (Based on History)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videos, code, papers, datasets from past searches.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personalization using stored user activity.</a:t>
            </a:r>
          </a:p>
        </p:txBody>
      </p:sp>
    </p:spTree>
    <p:extLst>
      <p:ext uri="{BB962C8B-B14F-4D97-AF65-F5344CB8AC3E}">
        <p14:creationId xmlns:p14="http://schemas.microsoft.com/office/powerpoint/2010/main" val="1581971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6C0D6-6CBE-0BC1-42DA-F486D65C7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4259" y="1710511"/>
            <a:ext cx="11088562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Usha Yadav and Neelam Duhan,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Efficient Retrieval of Data Using Semantic Search Engine Based on NLP and RDF”,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proc. VOLUME 6,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October 2021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https://ieeexplore.ieee.org/document/10246838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Daniel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Muepu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Yutaka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Watanobe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Code to Ratings – Enhancing Collaborative Filtering in OJ Systems”,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proc.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7, 2019,31 December 2024.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https://ieeexplore.ieee.org/document/10813164 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Diomidis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Spinellis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Panagiotis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Louridas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George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Gousios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Ioannis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Chatzigiannakis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Research Literature to Generate Datasets of Implicit Feedback (LIBRETTI)”,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proc.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7, 2019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,December 23, 2019.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https://ieeexplore.ieee.org/document/8924687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1CF9-CE6B-09C9-4B30-4FE77B49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84470"/>
            <a:ext cx="10668000" cy="48750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C7AFE-F917-599B-47E4-85261567B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152833"/>
            <a:ext cx="11379200" cy="49530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Renjie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Zhou,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Dongchen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Xia, Jian Wan, Sanyuan Zhang,”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Intelligent Video Tag Recommendation Method for Improving Video Popularity in Mobile”,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proc.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8, 2020, January 14, 2020.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https://ieeexplore.ieee.org/document/8938802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PAOLA INGAVÉLEZ-GUERRA , VLADIMIR E. ROBLES-BYKBAEV 1 , ANGEL PÉREZ-MUÑOZ ,JOSÉ HILERA-GONZÁLEZ  , AND SALVADOR OTÓN-TORTOSA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Adaptation of Open Educational Resources: An Approach From a Multilevel Methodology Based on Students’ Preferences, Educational Special Needs, Artificial Intelligence and Accessibility Metadata”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proc. VOLUME 10, 2022, January 27, 2022.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https://ieeexplore.ieee.org/document/9669174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M. EL-GAYAR , N. E. MEKKY1, A. ATWAN2 , AND H. SOLIMAN,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“Enhanced Search Engine Using Proposed Framework and Ranking Algorithm Based on Semantic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Relations”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7, 2019, October 7, 2019.</a:t>
            </a:r>
          </a:p>
          <a:p>
            <a:pPr lvl="1"/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https://ieeexplore.ieee.org/document/8840848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0C08-1FCD-3376-C15D-3580113A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 (IEEE Paper format)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55CE5-C6B9-C1F2-00DA-D65A3E113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CARLA LIMONGELLI  , MATTEO LOMBARDI  , ALESSANDRO MARANI, AND DAVIDE TAIBI,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Semantic Approach to Ranking Techniques: Improving Web Page Searches for Educational Purposes 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proc. VOLUME 10, 2022, 27 June 2022.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https://ieeexplore.ieee.org/document/9807311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B. KILLORAN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Search Engine Optimization Techniques to Increase Website Visibility”,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proc.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56, 1, MARCH 2013.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https://ieeexplore.ieee.org/document/6463486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ICHRAK SAIF, ABDELAZIZ SDIGUI DOUKKALI, ADIL ENAANAI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GENAUM: NEW SEMANTIC DISTRIBUTED SEARCH ENGINE “,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Multimedia, Vol. 12, No.3&amp;4 (2017) 210-221.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https://ieeexplore.ieee.org/document/11079888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KAILASH A. HAMBARDE AND HUGO PROENÇA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Retrieval: Recent Advances and Beyond”,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11, 2023, 14 July 2023.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https://ieeexplore.ieee.org/document/10184013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1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7620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altLang="en-US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https://github.com/Nithin3003/ISE_11-Capstone-Project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982F312-742A-64AA-BCC7-6F151803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3DA101-EA61-6127-710A-677EB9FCD7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 (Gantt Chart)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1780B-6B5F-C3CA-DB2A-50CC36A57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88" y="1101557"/>
            <a:ext cx="11863624" cy="5021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86056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2766</Words>
  <Application>Microsoft Office PowerPoint</Application>
  <PresentationFormat>Widescreen</PresentationFormat>
  <Paragraphs>383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Rounded MT Bold</vt:lpstr>
      <vt:lpstr>Cambria</vt:lpstr>
      <vt:lpstr>Times New Roman</vt:lpstr>
      <vt:lpstr>Verdana</vt:lpstr>
      <vt:lpstr>Wingdings</vt:lpstr>
      <vt:lpstr>Bioinformatics</vt:lpstr>
      <vt:lpstr>Student Innovation</vt:lpstr>
      <vt:lpstr>Content</vt:lpstr>
      <vt:lpstr>Abstract:</vt:lpstr>
      <vt:lpstr>Introduction(Context &amp; Motivation)</vt:lpstr>
      <vt:lpstr>Introduction(Need &amp; Scope)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Problem Definition</vt:lpstr>
      <vt:lpstr>Objectives:</vt:lpstr>
      <vt:lpstr>Existing Methods and Drawbacks</vt:lpstr>
      <vt:lpstr>Block Diagram</vt:lpstr>
      <vt:lpstr>Methodology</vt:lpstr>
      <vt:lpstr>Modules</vt:lpstr>
      <vt:lpstr>Modules</vt:lpstr>
      <vt:lpstr>Modules</vt:lpstr>
      <vt:lpstr>Results</vt:lpstr>
      <vt:lpstr>Results</vt:lpstr>
      <vt:lpstr>Results</vt:lpstr>
      <vt:lpstr>Results</vt:lpstr>
      <vt:lpstr>Future Enhancements</vt:lpstr>
      <vt:lpstr>References (IEEE Paper format)</vt:lpstr>
      <vt:lpstr>References (IEEE Paper format)</vt:lpstr>
      <vt:lpstr>References (IEEE Paper format)</vt:lpstr>
      <vt:lpstr>Github Link</vt:lpstr>
      <vt:lpstr>Timeline of the Project (Gantt Chart)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ADITYA VS</cp:lastModifiedBy>
  <cp:revision>82</cp:revision>
  <dcterms:created xsi:type="dcterms:W3CDTF">2025-08-13T05:26:29Z</dcterms:created>
  <dcterms:modified xsi:type="dcterms:W3CDTF">2025-12-03T07:50:27Z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59021E74CBF64697B0BDE6130A6B724D_12</vt:lpwstr>
  </property>
  <property fmtid="{D5CDD505-2E9C-101B-9397-08002B2CF9AE}" pid="3" name="KSOProductBuildVer">
    <vt:lpwstr>1033-12.2.0.21931</vt:lpwstr>
  </property>
</Properties>
</file>