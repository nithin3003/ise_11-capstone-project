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74" r:id="rId4"/>
    <p:sldId id="275" r:id="rId5"/>
    <p:sldId id="277" r:id="rId6"/>
    <p:sldId id="273" r:id="rId7"/>
    <p:sldId id="272" r:id="rId8"/>
    <p:sldId id="268" r:id="rId9"/>
    <p:sldId id="278" r:id="rId10"/>
    <p:sldId id="281" r:id="rId11"/>
    <p:sldId id="265" r:id="rId12"/>
    <p:sldId id="266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7690726-49DA-4552-BDEB-330DD8EA8BD9}" styleName="Table_0">
    <a:wholeTbl>
      <a:tcTxStyle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 panose="020B0604030504040204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 panose="020B0604030504040204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 panose="020B0604030504040204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 sz="2800" b="1" i="0" u="none" strike="noStrike" cap="none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/>
          <a:srcRect b="18046"/>
          <a:stretch>
            <a:fillRect/>
          </a:stretch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pdf/2408.09236?utm_source=chatgpt.com" TargetMode="External"/><Relationship Id="rId3" Type="http://schemas.openxmlformats.org/officeDocument/2006/relationships/hyperlink" Target="https://arxiv.org/abs/1708.00247" TargetMode="External"/><Relationship Id="rId7" Type="http://schemas.openxmlformats.org/officeDocument/2006/relationships/hyperlink" Target="https://arxiv.org/pdf/2408.09236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lejournal.springeropen.com/articles/10.1186/s40561-023-00260-y?utm_source=chatgpt.com" TargetMode="External"/><Relationship Id="rId5" Type="http://schemas.openxmlformats.org/officeDocument/2006/relationships/hyperlink" Target="https://slejournal.springeropen.com/articles/10.1186/s40561-023-00260-y" TargetMode="External"/><Relationship Id="rId4" Type="http://schemas.openxmlformats.org/officeDocument/2006/relationships/hyperlink" Target="https://arxiv.org/abs/1708.00247?utm_source=chatgpt.com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914400" y="7880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IN" sz="2400" dirty="0"/>
              <a:t>Student Innovation</a:t>
            </a:r>
            <a:endParaRPr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553346" y="2045352"/>
            <a:ext cx="4628253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 ISE_11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7385623" y="241872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spcBef>
                <a:spcPts val="400"/>
              </a:spcBef>
              <a:buClr>
                <a:srgbClr val="17365D"/>
              </a:buClr>
              <a:buSzPts val="2000"/>
            </a:pPr>
            <a:r>
              <a:rPr lang="en-GB" sz="20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Under the Supervision of,</a:t>
            </a:r>
            <a:endParaRPr lang="en-GB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IN" sz="1800" b="1" dirty="0"/>
              <a:t>Mr. John Bennet J</a:t>
            </a:r>
          </a:p>
          <a:p>
            <a:pPr marL="0" marR="0" lvl="0" indent="0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IN" sz="1700" b="1" i="0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Assistant Professor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4124584367"/>
              </p:ext>
            </p:extLst>
          </p:nvPr>
        </p:nvGraphicFramePr>
        <p:xfrm>
          <a:off x="208546" y="2597653"/>
          <a:ext cx="7042485" cy="4154263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180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4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25413">
                <a:tc>
                  <a:txBody>
                    <a:bodyPr/>
                    <a:lstStyle/>
                    <a:p>
                      <a:pPr marL="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</a:p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1800" b="1" u="none" strike="noStrike" cap="none" dirty="0">
                        <a:solidFill>
                          <a:srgbClr val="17365D"/>
                        </a:solidFill>
                      </a:endParaRPr>
                    </a:p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IN" sz="1800" b="1" u="none" strike="noStrike" cap="none" dirty="0"/>
                        <a:t>20221ISE0066</a:t>
                      </a:r>
                    </a:p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IN" sz="1800" b="1" u="none" strike="noStrike" cap="none" dirty="0"/>
                        <a:t>20221ISE0032</a:t>
                      </a:r>
                    </a:p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IN" sz="1800" b="1" u="none" strike="noStrike" cap="none" dirty="0"/>
                        <a:t>20221ISE0062</a:t>
                      </a:r>
                    </a:p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endParaRPr lang="en-GB" sz="1800" b="1" u="none" strike="noStrike" cap="none" dirty="0">
                        <a:solidFill>
                          <a:srgbClr val="17365D"/>
                        </a:solidFill>
                      </a:endParaRPr>
                    </a:p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endParaRPr lang="en-GB" sz="1800" b="1" u="none" strike="noStrike" cap="none" dirty="0">
                        <a:solidFill>
                          <a:srgbClr val="17365D"/>
                        </a:solidFill>
                      </a:endParaRPr>
                    </a:p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endParaRPr lang="en-IN"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1800" b="1" u="none" strike="noStrike" cap="none" dirty="0">
                        <a:solidFill>
                          <a:srgbClr val="17365D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chemeClr val="tx1"/>
                          </a:solidFill>
                        </a:rPr>
                        <a:t>Nithin M 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GB" sz="1800" b="1" u="none" strike="noStrike" cap="none" dirty="0">
                          <a:solidFill>
                            <a:schemeClr val="tx1"/>
                          </a:solidFill>
                        </a:rPr>
                        <a:t>Aditya V 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GB" sz="1800" b="1" u="none" strike="noStrike" cap="none" dirty="0">
                          <a:solidFill>
                            <a:schemeClr val="tx1"/>
                          </a:solidFill>
                        </a:rPr>
                        <a:t>Chiranthan T C Nadig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1800" b="1" u="none" strike="noStrike" cap="none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1800" b="1" u="none" strike="noStrike" cap="none" dirty="0">
                        <a:solidFill>
                          <a:srgbClr val="17365D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38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38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38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838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838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4660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CSE7101-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Capstone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Review-1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208546" y="4812022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Program: </a:t>
            </a:r>
            <a:r>
              <a:rPr lang="en-IN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Information</a:t>
            </a:r>
            <a:r>
              <a:rPr lang="en-IN" alt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Science and Engineering</a:t>
            </a:r>
            <a:endParaRPr lang="en-US"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HOD: </a:t>
            </a: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Zafar Ali Khan N</a:t>
            </a:r>
          </a:p>
          <a:p>
            <a:pPr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Ms .Suma N G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Sampath A K , Dr. Geetha </a:t>
            </a: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Arjunan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D16A97-808D-6B2B-D424-288025E78D53}"/>
              </a:ext>
            </a:extLst>
          </p:cNvPr>
          <p:cNvSpPr txBox="1"/>
          <p:nvPr/>
        </p:nvSpPr>
        <p:spPr>
          <a:xfrm>
            <a:off x="764362" y="1517373"/>
            <a:ext cx="1027877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		          Smart Education, a concept that describes learning in digital age. </a:t>
            </a:r>
          </a:p>
          <a:p>
            <a:r>
              <a:rPr lang="en-US" b="1" dirty="0"/>
              <a:t>		It enables learner to learn more effectively ,efficiently ,flexibly and comfortably. </a:t>
            </a:r>
            <a:endParaRPr lang="en-IN" b="1" dirty="0"/>
          </a:p>
          <a:p>
            <a:endParaRPr lang="en-IN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85279" y="1102479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Problem Statement.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Objectives.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Background and Related work for title Selection.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Statement.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Software and Hardware requirements.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Git-hub Link.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Flow Diagram.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Project.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References.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Statement: 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PSCS_132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762138"/>
            <a:ext cx="11231716" cy="2256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55000" lnSpcReduction="20000"/>
          </a:bodyPr>
          <a:lstStyle/>
          <a:p>
            <a:pPr marL="152400" indent="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4400" b="1" dirty="0">
                <a:latin typeface="Cambria" panose="02040503050406030204" pitchFamily="18" charset="0"/>
                <a:ea typeface="Cambria" panose="02040503050406030204" pitchFamily="18" charset="0"/>
              </a:rPr>
              <a:t>Organization:</a:t>
            </a:r>
            <a:r>
              <a:rPr lang="en-IN" sz="4400" dirty="0"/>
              <a:t>AICTE, MIC-Student Innovation</a:t>
            </a:r>
          </a:p>
          <a:p>
            <a:pPr marL="152400" indent="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4400" b="1" dirty="0">
                <a:latin typeface="Cambria" panose="02040503050406030204" pitchFamily="18" charset="0"/>
                <a:ea typeface="Cambria" panose="02040503050406030204" pitchFamily="18" charset="0"/>
              </a:rPr>
              <a:t>Category</a:t>
            </a:r>
            <a:r>
              <a:rPr lang="en-US" sz="4400" dirty="0">
                <a:latin typeface="Cambria" panose="02040503050406030204" pitchFamily="18" charset="0"/>
                <a:ea typeface="Cambria" panose="02040503050406030204" pitchFamily="18" charset="0"/>
              </a:rPr>
              <a:t>: Software</a:t>
            </a:r>
          </a:p>
          <a:p>
            <a:pPr marL="152400" indent="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4400" b="1" dirty="0">
                <a:latin typeface="Cambria" panose="02040503050406030204" pitchFamily="18" charset="0"/>
                <a:ea typeface="Cambria" panose="02040503050406030204" pitchFamily="18" charset="0"/>
              </a:rPr>
              <a:t>Problem Description:</a:t>
            </a:r>
          </a:p>
          <a:p>
            <a:pPr marL="152400" lvl="0" indent="0" algn="just">
              <a:lnSpc>
                <a:spcPct val="200000"/>
              </a:lnSpc>
              <a:spcBef>
                <a:spcPts val="0"/>
              </a:spcBef>
              <a:buNone/>
            </a:pPr>
            <a:endParaRPr lang="en-US" b="1" dirty="0">
              <a:solidFill>
                <a:schemeClr val="bg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205066-8B66-56AE-ECE0-BAD52973030B}"/>
              </a:ext>
            </a:extLst>
          </p:cNvPr>
          <p:cNvSpPr txBox="1"/>
          <p:nvPr/>
        </p:nvSpPr>
        <p:spPr>
          <a:xfrm>
            <a:off x="812800" y="4321489"/>
            <a:ext cx="103238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400" b="1" dirty="0"/>
              <a:t>Quick Search(Search Engine): The Google for Developers</a:t>
            </a:r>
            <a:r>
              <a:rPr lang="en-IN" sz="2400" dirty="0"/>
              <a:t>, endeavours to establish singular online platform designed for comprehensive information retrieval and ranking from disparate data sources.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A029F9-70A4-83F8-7AA6-A8633B9E5F3A}"/>
              </a:ext>
            </a:extLst>
          </p:cNvPr>
          <p:cNvSpPr txBox="1"/>
          <p:nvPr/>
        </p:nvSpPr>
        <p:spPr>
          <a:xfrm>
            <a:off x="914400" y="2641108"/>
            <a:ext cx="1039433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Smart Education, a Concept that Describes learning in digital age. It enables learner to learn more effectively ,efficiently ,flexibly and comfortably. By building a search engine integrated with the concepts of NLP and recommendation system for efficient search results.</a:t>
            </a:r>
            <a:endParaRPr lang="en-IN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2C1A55E-0617-C934-6AA4-0C07A38712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42685" y="1463505"/>
            <a:ext cx="11464612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design and develop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smart search engine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provides categorized academic resources (Research Papers, Datasets, and Videos).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apply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Natural Language Processing (NLP)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techniques for query preprocessing and expansion to improve search accuracy.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enable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effective filtering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results based on resource type (e.g., videos, code/datasets, research papers).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enhance learning by providing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relevant and organized search results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students and researchers.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support the vision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Smart Education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by making learning more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effective, efficient, flexible, and comfortable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integrate APIs (e.g., YouTube, Kaggle, scholarly databases) for retrieving real-time educational content.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Background and Related Work</a:t>
            </a:r>
            <a:endParaRPr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CC51C86-1F81-A919-9EF1-6B6FE26901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81780" y="1033472"/>
            <a:ext cx="11330039" cy="4791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1600" dirty="0"/>
              <a:t>Researchers face challenges in retrieving relevant and diverse information (datasets, research papers, code, videos).</a:t>
            </a:r>
          </a:p>
          <a:p>
            <a:r>
              <a:rPr lang="en-IN" sz="1600" dirty="0"/>
              <a:t>Traditional search engines rely heavily on </a:t>
            </a:r>
            <a:r>
              <a:rPr lang="en-IN" sz="1600" b="1" dirty="0"/>
              <a:t>keyword matching</a:t>
            </a:r>
            <a:r>
              <a:rPr lang="en-IN" sz="1600" dirty="0"/>
              <a:t>, often leading to incomplete or irrelevant results.</a:t>
            </a:r>
          </a:p>
          <a:p>
            <a:r>
              <a:rPr lang="en-IN" sz="1600" b="1" dirty="0"/>
              <a:t>Natural Language Processing (NLP)</a:t>
            </a:r>
            <a:r>
              <a:rPr lang="en-IN" sz="1600" dirty="0"/>
              <a:t> enables better </a:t>
            </a:r>
            <a:r>
              <a:rPr lang="en-IN" sz="1600" b="1" dirty="0"/>
              <a:t>query understanding</a:t>
            </a:r>
            <a:r>
              <a:rPr lang="en-IN" sz="1600" dirty="0"/>
              <a:t>, expansion, and semantic matching.</a:t>
            </a:r>
          </a:p>
          <a:p>
            <a:r>
              <a:rPr lang="en-IN" sz="1600" dirty="0"/>
              <a:t>Hybrid search systems can combine </a:t>
            </a:r>
            <a:r>
              <a:rPr lang="en-IN" sz="1600" b="1" dirty="0"/>
              <a:t>content-based, semantic, and popularity-based features</a:t>
            </a:r>
            <a:r>
              <a:rPr lang="en-IN" sz="1600" dirty="0"/>
              <a:t> for improved results.</a:t>
            </a:r>
          </a:p>
          <a:p>
            <a:r>
              <a:rPr lang="en-IN" sz="1600" b="1" dirty="0"/>
              <a:t>Related Work:</a:t>
            </a:r>
            <a:endParaRPr lang="en-IN" sz="1600" dirty="0"/>
          </a:p>
          <a:p>
            <a:r>
              <a:rPr lang="en-IN" sz="1600" b="1" dirty="0"/>
              <a:t>Query Expansion Techniques</a:t>
            </a:r>
            <a:r>
              <a:rPr lang="en-IN" sz="1600" dirty="0"/>
              <a:t> improve retrieval accuracy by reformulating short/ambiguous queries.</a:t>
            </a:r>
            <a:br>
              <a:rPr lang="en-IN" sz="1600" dirty="0"/>
            </a:br>
            <a:r>
              <a:rPr lang="en-IN" sz="1600" i="1" dirty="0"/>
              <a:t>(Azad &amp; Deepak, “Query Expansion Techniques for Information Retrieval: A Survey,” 2017)</a:t>
            </a:r>
            <a:endParaRPr lang="en-IN" sz="1600" dirty="0"/>
          </a:p>
          <a:p>
            <a:r>
              <a:rPr lang="en-IN" sz="1600" b="1" dirty="0"/>
              <a:t>NLP in Education &amp; Intelligent Search</a:t>
            </a:r>
            <a:r>
              <a:rPr lang="en-IN" sz="1600" dirty="0"/>
              <a:t> shows how semantic processing enhances personalized and adaptive search.</a:t>
            </a:r>
            <a:br>
              <a:rPr lang="en-IN" sz="1600" dirty="0"/>
            </a:br>
            <a:r>
              <a:rPr lang="en-IN" sz="1600" i="1" dirty="0"/>
              <a:t>(C.C. Lin, “Artificial intelligence in intelligent tutoring systems toward sustainable education,” 2023)</a:t>
            </a:r>
            <a:endParaRPr lang="en-IN" sz="1600" dirty="0"/>
          </a:p>
          <a:p>
            <a:r>
              <a:rPr lang="en-IN" sz="1600" b="1" dirty="0"/>
              <a:t>Hybrid Semantic Search</a:t>
            </a:r>
            <a:r>
              <a:rPr lang="en-IN" sz="1600" dirty="0"/>
              <a:t> integrates keyword-based and semantic approaches for deeper intent understanding.</a:t>
            </a:r>
            <a:br>
              <a:rPr lang="en-IN" sz="1600" dirty="0"/>
            </a:br>
            <a:r>
              <a:rPr lang="en-IN" sz="1600" i="1" dirty="0"/>
              <a:t>(Ahluwalia et al., “Hybrid Semantic Search: Unveiling User Intent Beyond Keywords,” 2024)</a:t>
            </a:r>
            <a:endParaRPr lang="en-IN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2F7D9FA-E6AC-9849-9140-E90481C7E7D2}"/>
              </a:ext>
            </a:extLst>
          </p:cNvPr>
          <p:cNvSpPr/>
          <p:nvPr/>
        </p:nvSpPr>
        <p:spPr>
          <a:xfrm>
            <a:off x="993058" y="1337187"/>
            <a:ext cx="2900516" cy="13765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Information overload</a:t>
            </a:r>
            <a:br>
              <a:rPr lang="en-US" dirty="0"/>
            </a:br>
            <a:r>
              <a:rPr lang="en-US" dirty="0"/>
              <a:t>No categorization (mixed results)</a:t>
            </a:r>
            <a:br>
              <a:rPr lang="en-US" dirty="0"/>
            </a:br>
            <a:r>
              <a:rPr lang="en-US" dirty="0"/>
              <a:t>Irrelevant search results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F86F69-190B-2855-E16E-9F6249B4573E}"/>
              </a:ext>
            </a:extLst>
          </p:cNvPr>
          <p:cNvSpPr txBox="1"/>
          <p:nvPr/>
        </p:nvSpPr>
        <p:spPr>
          <a:xfrm>
            <a:off x="1730478" y="2802193"/>
            <a:ext cx="1208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dirty="0"/>
              <a:t>PROBLEM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14463EC-6BE3-85A4-74C7-DD3A3DF72169}"/>
              </a:ext>
            </a:extLst>
          </p:cNvPr>
          <p:cNvCxnSpPr>
            <a:stCxn id="3" idx="3"/>
          </p:cNvCxnSpPr>
          <p:nvPr/>
        </p:nvCxnSpPr>
        <p:spPr>
          <a:xfrm>
            <a:off x="3893574" y="2025445"/>
            <a:ext cx="205494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FA14F049-5047-9E0F-4AC5-0D082CE5033A}"/>
              </a:ext>
            </a:extLst>
          </p:cNvPr>
          <p:cNvSpPr/>
          <p:nvPr/>
        </p:nvSpPr>
        <p:spPr>
          <a:xfrm>
            <a:off x="5948515" y="1337186"/>
            <a:ext cx="5024285" cy="14649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Students waste time searching across multiple sources</a:t>
            </a:r>
            <a:br>
              <a:rPr lang="en-US" dirty="0"/>
            </a:br>
            <a:r>
              <a:rPr lang="en-US" dirty="0"/>
              <a:t> Queries are not expanded/processed → ambiguous results</a:t>
            </a:r>
            <a:br>
              <a:rPr lang="en-US" dirty="0"/>
            </a:br>
            <a:r>
              <a:rPr lang="en-US" dirty="0"/>
              <a:t> Lack of academic focus → barrier to Smart Education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D2C981-2A47-C8A1-C071-CC863A70F4CC}"/>
              </a:ext>
            </a:extLst>
          </p:cNvPr>
          <p:cNvSpPr txBox="1"/>
          <p:nvPr/>
        </p:nvSpPr>
        <p:spPr>
          <a:xfrm>
            <a:off x="6744929" y="2780071"/>
            <a:ext cx="12186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dirty="0"/>
              <a:t>ANALYSIS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B9314D3-A043-9B74-D4AC-67BA3A6B6235}"/>
              </a:ext>
            </a:extLst>
          </p:cNvPr>
          <p:cNvCxnSpPr>
            <a:stCxn id="9" idx="2"/>
          </p:cNvCxnSpPr>
          <p:nvPr/>
        </p:nvCxnSpPr>
        <p:spPr>
          <a:xfrm flipH="1">
            <a:off x="8460657" y="2802183"/>
            <a:ext cx="1" cy="12388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8079FF0B-68D3-9B40-2DCB-B1496D18128F}"/>
              </a:ext>
            </a:extLst>
          </p:cNvPr>
          <p:cNvSpPr/>
          <p:nvPr/>
        </p:nvSpPr>
        <p:spPr>
          <a:xfrm>
            <a:off x="6594989" y="4041058"/>
            <a:ext cx="3731335" cy="17501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NLP-based Query Processing</a:t>
            </a:r>
            <a:br>
              <a:rPr lang="en-US" dirty="0"/>
            </a:br>
            <a:r>
              <a:rPr lang="en-US" dirty="0"/>
              <a:t> Categorized Results (Research Papers, Datasets, Videos)</a:t>
            </a:r>
            <a:br>
              <a:rPr lang="en-US" dirty="0"/>
            </a:br>
            <a:r>
              <a:rPr lang="en-US" dirty="0"/>
              <a:t>Unified Smart Education Search Engine.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78F2CA-99A0-9376-7EA4-92D079513B1B}"/>
              </a:ext>
            </a:extLst>
          </p:cNvPr>
          <p:cNvSpPr txBox="1"/>
          <p:nvPr/>
        </p:nvSpPr>
        <p:spPr>
          <a:xfrm>
            <a:off x="7963532" y="5860026"/>
            <a:ext cx="12330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dirty="0"/>
              <a:t>SOLUTION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190500" algn="just">
              <a:lnSpc>
                <a:spcPct val="200000"/>
              </a:lnSpc>
              <a:buClr>
                <a:schemeClr val="dk1"/>
              </a:buClr>
              <a:buSzPct val="100000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Software and Hardware Requirements: 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491958" y="1446195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Frontend: HTML5, CSS3, React.js ,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axios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Backend: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FastAPI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(Python)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Database: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Supabase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(PostgreSQL) 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Server: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Vercel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7757" y="1161624"/>
            <a:ext cx="1096880" cy="637721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56DAF810-32C1-40E6-014E-7BEEC21B21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6300" y="1684420"/>
            <a:ext cx="1096880" cy="790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C5EC203E-470F-D27B-9EB7-322144D1B2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5432" y="2752564"/>
            <a:ext cx="1279205" cy="1170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/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/>
          <p:nvPr/>
        </p:nvSpPr>
        <p:spPr>
          <a:xfrm>
            <a:off x="7620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Github link provided should have public access permission.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r>
              <a:rPr lang="en-US" b="1" dirty="0" err="1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Github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Link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b="1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altLang="en-US" dirty="0">
                <a:solidFill>
                  <a:schemeClr val="bg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https://github.com/Nithin3003/ISE_11-Capstone-Project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Flow Diagram 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379B84-0F52-2893-8B33-7888D9000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6237" y="982458"/>
            <a:ext cx="3819525" cy="52863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C3365A-1EA7-6991-0714-32ABC3C15C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96042"/>
            <a:ext cx="12192000" cy="50213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66C0D6-6CBE-0BC1-42DA-F486D65C74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06279" y="997565"/>
            <a:ext cx="11685721" cy="48628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1. Query Expansion Techniques for Improving Information Retrieval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Title: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i="1" dirty="0">
                <a:solidFill>
                  <a:schemeClr val="tx1"/>
                </a:solidFill>
                <a:latin typeface="Arial" panose="020B0604020202020204" pitchFamily="34" charset="0"/>
              </a:rPr>
              <a:t>Query expansion techniques for information retrieval: A survey</a:t>
            </a:r>
            <a:b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Authors: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Hiteshwar Kumar Azad, Akshay Deepak</a:t>
            </a:r>
            <a:b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Link: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  <a:hlinkClick r:id="rId3"/>
              </a:rPr>
              <a:t>https://arxiv.org/abs/1708.00247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  <a:hlinkClick r:id="rId4"/>
              </a:rPr>
              <a:t>arXiv</a:t>
            </a: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0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2. NLP-Based Intelligent Search Systems for Education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Title: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i="1" dirty="0">
                <a:solidFill>
                  <a:schemeClr val="tx1"/>
                </a:solidFill>
                <a:latin typeface="Arial" panose="020B0604020202020204" pitchFamily="34" charset="0"/>
              </a:rPr>
              <a:t>Artificial intelligence in intelligent tutoring systems toward sustainable education</a:t>
            </a:r>
            <a:b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Author: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C.C. Lin</a:t>
            </a:r>
            <a:b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Link: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  <a:hlinkClick r:id="rId5"/>
              </a:rPr>
              <a:t>https://slejournal.springeropen.com/articles/10.1186/s40561-023-00260-y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  <a:hlinkClick r:id="rId6"/>
              </a:rPr>
              <a:t>SpringerOpen</a:t>
            </a: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6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3. Hybrid Information Retrieval with NLP &amp; Semantic Analysis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i="1" dirty="0">
                <a:solidFill>
                  <a:schemeClr val="tx1"/>
                </a:solidFill>
                <a:latin typeface="Arial" panose="020B0604020202020204" pitchFamily="34" charset="0"/>
              </a:rPr>
              <a:t>Hybrid Semantic Search: Unveiling User Intent Beyond Keywords</a:t>
            </a:r>
            <a:b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Authors: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Aman Ahluwalia, Bishwajit Sutradhar, Karishma Ghosh,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</a:rPr>
              <a:t>Indrapal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Yadav, Arpan Sheetal, Prashant Patil</a:t>
            </a:r>
            <a:b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Link: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hlinkClick r:id="rId7"/>
              </a:rPr>
              <a:t>https://arxiv.org/pdf/2408.09236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hlinkClick r:id="rId8"/>
              </a:rPr>
              <a:t>arXiv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</TotalTime>
  <Words>840</Words>
  <Application>Microsoft Office PowerPoint</Application>
  <PresentationFormat>Widescreen</PresentationFormat>
  <Paragraphs>101</Paragraphs>
  <Slides>12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Cambria</vt:lpstr>
      <vt:lpstr>Verdana</vt:lpstr>
      <vt:lpstr>Wingdings</vt:lpstr>
      <vt:lpstr>Bioinformatics</vt:lpstr>
      <vt:lpstr>Student Innovation</vt:lpstr>
      <vt:lpstr>Content</vt:lpstr>
      <vt:lpstr>Problem Statement: PSCS_132</vt:lpstr>
      <vt:lpstr>Objectives:</vt:lpstr>
      <vt:lpstr>Background and Related Work</vt:lpstr>
      <vt:lpstr>Analysis of Problem Statement</vt:lpstr>
      <vt:lpstr>Software and Hardware Requirements: </vt:lpstr>
      <vt:lpstr>Github Link</vt:lpstr>
      <vt:lpstr>Flow Diagram </vt:lpstr>
      <vt:lpstr>Timeline of the Project (Gantt Chart)</vt:lpstr>
      <vt:lpstr>References (IEEE Paper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ADITYA VS</cp:lastModifiedBy>
  <cp:revision>64</cp:revision>
  <dcterms:created xsi:type="dcterms:W3CDTF">2025-08-13T05:26:29Z</dcterms:created>
  <dcterms:modified xsi:type="dcterms:W3CDTF">2025-08-20T16:27:00Z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59021E74CBF64697B0BDE6130A6B724D_12</vt:lpwstr>
  </property>
  <property fmtid="{D5CDD505-2E9C-101B-9397-08002B2CF9AE}" pid="3" name="KSOProductBuildVer">
    <vt:lpwstr>1033-12.2.0.21931</vt:lpwstr>
  </property>
</Properties>
</file>